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5" r:id="rId6"/>
    <p:sldId id="270" r:id="rId7"/>
    <p:sldId id="271" r:id="rId8"/>
    <p:sldId id="266" r:id="rId9"/>
    <p:sldId id="272" r:id="rId10"/>
    <p:sldId id="273" r:id="rId11"/>
    <p:sldId id="267"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EDC3ED-24B2-41CE-BB6C-6AA851E22884}" v="5" dt="2022-02-02T14:19:27.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642" autoAdjust="0"/>
    <p:restoredTop sz="94660"/>
  </p:normalViewPr>
  <p:slideViewPr>
    <p:cSldViewPr snapToGrid="0">
      <p:cViewPr varScale="1">
        <p:scale>
          <a:sx n="73" d="100"/>
          <a:sy n="73" d="100"/>
        </p:scale>
        <p:origin x="116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es Belinsky" userId="df390934-7dca-40c8-90db-c8d8d67e4ef2" providerId="ADAL" clId="{39EDC3ED-24B2-41CE-BB6C-6AA851E22884}"/>
    <pc:docChg chg="undo custSel addSld delSld modSld">
      <pc:chgData name="Charles Belinsky" userId="df390934-7dca-40c8-90db-c8d8d67e4ef2" providerId="ADAL" clId="{39EDC3ED-24B2-41CE-BB6C-6AA851E22884}" dt="2022-02-03T02:08:36.383" v="2759" actId="207"/>
      <pc:docMkLst>
        <pc:docMk/>
      </pc:docMkLst>
      <pc:sldChg chg="modSp mod">
        <pc:chgData name="Charles Belinsky" userId="df390934-7dca-40c8-90db-c8d8d67e4ef2" providerId="ADAL" clId="{39EDC3ED-24B2-41CE-BB6C-6AA851E22884}" dt="2022-02-02T13:43:10.093" v="197" actId="20577"/>
        <pc:sldMkLst>
          <pc:docMk/>
          <pc:sldMk cId="947962440" sldId="256"/>
        </pc:sldMkLst>
        <pc:spChg chg="mod">
          <ac:chgData name="Charles Belinsky" userId="df390934-7dca-40c8-90db-c8d8d67e4ef2" providerId="ADAL" clId="{39EDC3ED-24B2-41CE-BB6C-6AA851E22884}" dt="2022-02-02T13:43:10.093" v="197" actId="20577"/>
          <ac:spMkLst>
            <pc:docMk/>
            <pc:sldMk cId="947962440" sldId="256"/>
            <ac:spMk id="2" creationId="{BA1E47E7-0486-4E1C-929A-58A083BDF5ED}"/>
          </ac:spMkLst>
        </pc:spChg>
      </pc:sldChg>
      <pc:sldChg chg="del">
        <pc:chgData name="Charles Belinsky" userId="df390934-7dca-40c8-90db-c8d8d67e4ef2" providerId="ADAL" clId="{39EDC3ED-24B2-41CE-BB6C-6AA851E22884}" dt="2022-02-03T02:07:58.989" v="2758" actId="47"/>
        <pc:sldMkLst>
          <pc:docMk/>
          <pc:sldMk cId="3479799619" sldId="258"/>
        </pc:sldMkLst>
      </pc:sldChg>
      <pc:sldChg chg="modSp mod">
        <pc:chgData name="Charles Belinsky" userId="df390934-7dca-40c8-90db-c8d8d67e4ef2" providerId="ADAL" clId="{39EDC3ED-24B2-41CE-BB6C-6AA851E22884}" dt="2022-02-02T13:46:41.902" v="679" actId="20577"/>
        <pc:sldMkLst>
          <pc:docMk/>
          <pc:sldMk cId="2203167127" sldId="265"/>
        </pc:sldMkLst>
        <pc:spChg chg="mod">
          <ac:chgData name="Charles Belinsky" userId="df390934-7dca-40c8-90db-c8d8d67e4ef2" providerId="ADAL" clId="{39EDC3ED-24B2-41CE-BB6C-6AA851E22884}" dt="2022-02-02T13:46:41.902" v="679" actId="20577"/>
          <ac:spMkLst>
            <pc:docMk/>
            <pc:sldMk cId="2203167127" sldId="265"/>
            <ac:spMk id="2" creationId="{BA1E47E7-0486-4E1C-929A-58A083BDF5ED}"/>
          </ac:spMkLst>
        </pc:spChg>
      </pc:sldChg>
      <pc:sldChg chg="modSp mod">
        <pc:chgData name="Charles Belinsky" userId="df390934-7dca-40c8-90db-c8d8d67e4ef2" providerId="ADAL" clId="{39EDC3ED-24B2-41CE-BB6C-6AA851E22884}" dt="2022-02-03T02:08:36.383" v="2759" actId="207"/>
        <pc:sldMkLst>
          <pc:docMk/>
          <pc:sldMk cId="1432489684" sldId="266"/>
        </pc:sldMkLst>
        <pc:spChg chg="mod">
          <ac:chgData name="Charles Belinsky" userId="df390934-7dca-40c8-90db-c8d8d67e4ef2" providerId="ADAL" clId="{39EDC3ED-24B2-41CE-BB6C-6AA851E22884}" dt="2022-02-03T02:08:36.383" v="2759" actId="207"/>
          <ac:spMkLst>
            <pc:docMk/>
            <pc:sldMk cId="1432489684" sldId="266"/>
            <ac:spMk id="2" creationId="{BA1E47E7-0486-4E1C-929A-58A083BDF5ED}"/>
          </ac:spMkLst>
        </pc:spChg>
      </pc:sldChg>
      <pc:sldChg chg="del">
        <pc:chgData name="Charles Belinsky" userId="df390934-7dca-40c8-90db-c8d8d67e4ef2" providerId="ADAL" clId="{39EDC3ED-24B2-41CE-BB6C-6AA851E22884}" dt="2022-02-03T02:07:57.373" v="2757" actId="47"/>
        <pc:sldMkLst>
          <pc:docMk/>
          <pc:sldMk cId="265643032" sldId="269"/>
        </pc:sldMkLst>
      </pc:sldChg>
      <pc:sldChg chg="modSp add mod">
        <pc:chgData name="Charles Belinsky" userId="df390934-7dca-40c8-90db-c8d8d67e4ef2" providerId="ADAL" clId="{39EDC3ED-24B2-41CE-BB6C-6AA851E22884}" dt="2022-02-02T13:57:35.631" v="1080" actId="20577"/>
        <pc:sldMkLst>
          <pc:docMk/>
          <pc:sldMk cId="591099552" sldId="270"/>
        </pc:sldMkLst>
        <pc:spChg chg="mod">
          <ac:chgData name="Charles Belinsky" userId="df390934-7dca-40c8-90db-c8d8d67e4ef2" providerId="ADAL" clId="{39EDC3ED-24B2-41CE-BB6C-6AA851E22884}" dt="2022-02-02T13:57:35.631" v="1080" actId="20577"/>
          <ac:spMkLst>
            <pc:docMk/>
            <pc:sldMk cId="591099552" sldId="270"/>
            <ac:spMk id="2" creationId="{BA1E47E7-0486-4E1C-929A-58A083BDF5ED}"/>
          </ac:spMkLst>
        </pc:spChg>
      </pc:sldChg>
      <pc:sldChg chg="modSp add mod">
        <pc:chgData name="Charles Belinsky" userId="df390934-7dca-40c8-90db-c8d8d67e4ef2" providerId="ADAL" clId="{39EDC3ED-24B2-41CE-BB6C-6AA851E22884}" dt="2022-02-03T02:05:37.533" v="2649" actId="20577"/>
        <pc:sldMkLst>
          <pc:docMk/>
          <pc:sldMk cId="1617168973" sldId="271"/>
        </pc:sldMkLst>
        <pc:spChg chg="mod">
          <ac:chgData name="Charles Belinsky" userId="df390934-7dca-40c8-90db-c8d8d67e4ef2" providerId="ADAL" clId="{39EDC3ED-24B2-41CE-BB6C-6AA851E22884}" dt="2022-02-03T02:05:37.533" v="2649" actId="20577"/>
          <ac:spMkLst>
            <pc:docMk/>
            <pc:sldMk cId="1617168973" sldId="271"/>
            <ac:spMk id="2" creationId="{BA1E47E7-0486-4E1C-929A-58A083BDF5ED}"/>
          </ac:spMkLst>
        </pc:spChg>
      </pc:sldChg>
      <pc:sldChg chg="addSp modSp add del mod">
        <pc:chgData name="Charles Belinsky" userId="df390934-7dca-40c8-90db-c8d8d67e4ef2" providerId="ADAL" clId="{39EDC3ED-24B2-41CE-BB6C-6AA851E22884}" dt="2022-02-03T02:06:10.409" v="2655" actId="20577"/>
        <pc:sldMkLst>
          <pc:docMk/>
          <pc:sldMk cId="268168094" sldId="272"/>
        </pc:sldMkLst>
        <pc:spChg chg="mod">
          <ac:chgData name="Charles Belinsky" userId="df390934-7dca-40c8-90db-c8d8d67e4ef2" providerId="ADAL" clId="{39EDC3ED-24B2-41CE-BB6C-6AA851E22884}" dt="2022-02-03T02:06:10.409" v="2655" actId="20577"/>
          <ac:spMkLst>
            <pc:docMk/>
            <pc:sldMk cId="268168094" sldId="272"/>
            <ac:spMk id="2" creationId="{BA1E47E7-0486-4E1C-929A-58A083BDF5ED}"/>
          </ac:spMkLst>
        </pc:spChg>
        <pc:spChg chg="add">
          <ac:chgData name="Charles Belinsky" userId="df390934-7dca-40c8-90db-c8d8d67e4ef2" providerId="ADAL" clId="{39EDC3ED-24B2-41CE-BB6C-6AA851E22884}" dt="2022-02-02T14:19:21.062" v="2300" actId="22"/>
          <ac:spMkLst>
            <pc:docMk/>
            <pc:sldMk cId="268168094" sldId="272"/>
            <ac:spMk id="4" creationId="{7173CBCA-9686-4C7B-B844-16CD478CA249}"/>
          </ac:spMkLst>
        </pc:spChg>
      </pc:sldChg>
      <pc:sldChg chg="delSp modSp add mod">
        <pc:chgData name="Charles Belinsky" userId="df390934-7dca-40c8-90db-c8d8d67e4ef2" providerId="ADAL" clId="{39EDC3ED-24B2-41CE-BB6C-6AA851E22884}" dt="2022-02-03T02:07:50.244" v="2756" actId="20577"/>
        <pc:sldMkLst>
          <pc:docMk/>
          <pc:sldMk cId="2592903178" sldId="273"/>
        </pc:sldMkLst>
        <pc:spChg chg="mod">
          <ac:chgData name="Charles Belinsky" userId="df390934-7dca-40c8-90db-c8d8d67e4ef2" providerId="ADAL" clId="{39EDC3ED-24B2-41CE-BB6C-6AA851E22884}" dt="2022-02-03T02:07:50.244" v="2756" actId="20577"/>
          <ac:spMkLst>
            <pc:docMk/>
            <pc:sldMk cId="2592903178" sldId="273"/>
            <ac:spMk id="2" creationId="{BA1E47E7-0486-4E1C-929A-58A083BDF5ED}"/>
          </ac:spMkLst>
        </pc:spChg>
        <pc:spChg chg="del mod">
          <ac:chgData name="Charles Belinsky" userId="df390934-7dca-40c8-90db-c8d8d67e4ef2" providerId="ADAL" clId="{39EDC3ED-24B2-41CE-BB6C-6AA851E22884}" dt="2022-02-03T02:06:55.793" v="2660" actId="21"/>
          <ac:spMkLst>
            <pc:docMk/>
            <pc:sldMk cId="2592903178" sldId="273"/>
            <ac:spMk id="4" creationId="{7173CBCA-9686-4C7B-B844-16CD478CA24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E16A-DE90-452F-975A-56CDC85BE5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6FAAFC-11FE-4361-BC22-D9A7848686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A74D9A-A631-41E0-B100-9DDBE0D211F4}"/>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5" name="Footer Placeholder 4">
            <a:extLst>
              <a:ext uri="{FF2B5EF4-FFF2-40B4-BE49-F238E27FC236}">
                <a16:creationId xmlns:a16="http://schemas.microsoft.com/office/drawing/2014/main" id="{8FF2BF62-17A1-4CAA-B184-AD743E3697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BB0EDC-2E3F-4311-848E-AD684AEC0A88}"/>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1045801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9DA05-B30B-4B83-8A4E-9F13C120D5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9A8731-A777-4144-8046-535C83BF85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1D628-2E8A-456A-B1A0-ABED3A8AEF7C}"/>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5" name="Footer Placeholder 4">
            <a:extLst>
              <a:ext uri="{FF2B5EF4-FFF2-40B4-BE49-F238E27FC236}">
                <a16:creationId xmlns:a16="http://schemas.microsoft.com/office/drawing/2014/main" id="{52E7CBC7-4854-4351-BD5E-F69C0CAF7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B0F9BD-EB29-4985-A32A-AC0236B6E35A}"/>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914906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AF45-938F-49A5-BD00-CF76D4FEA5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F27273-FE76-4F53-A248-FBBA17041B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2307A0-40EA-4904-A21A-29D5907DFED0}"/>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5" name="Footer Placeholder 4">
            <a:extLst>
              <a:ext uri="{FF2B5EF4-FFF2-40B4-BE49-F238E27FC236}">
                <a16:creationId xmlns:a16="http://schemas.microsoft.com/office/drawing/2014/main" id="{F4BEC294-B396-4286-92B5-E3B390C166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8D8469-BCF1-4BC6-9D8B-03FE3D10ABD3}"/>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555184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B9B27-6224-4960-B4AD-56F94E0440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33487D-AE80-4021-9B60-8C2E07CF92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748DE8-F5D7-49DC-9AE0-2DF988DACC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581947-9CB5-4886-B1C1-A8786D9CCFAA}"/>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6" name="Footer Placeholder 5">
            <a:extLst>
              <a:ext uri="{FF2B5EF4-FFF2-40B4-BE49-F238E27FC236}">
                <a16:creationId xmlns:a16="http://schemas.microsoft.com/office/drawing/2014/main" id="{18D82E52-F244-4387-BBFE-DA8BC48336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463B90-F74D-4A87-A3B6-F1B1C662770E}"/>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2718304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BE50-7BB1-4D86-9CE7-DB3F3861BE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42240E-27BE-4E66-9162-F1822B9020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CC3D4A-5E41-48DF-A70A-28CEF1C5D5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0B212A-E4CB-46C2-BBCA-94AC00A9B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2CA0B-7DF3-4938-867D-A8A282E8D7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B9B111-620E-4885-A6F4-4D527C643B8D}"/>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8" name="Footer Placeholder 7">
            <a:extLst>
              <a:ext uri="{FF2B5EF4-FFF2-40B4-BE49-F238E27FC236}">
                <a16:creationId xmlns:a16="http://schemas.microsoft.com/office/drawing/2014/main" id="{CF5B9B1B-D2F6-4CB9-96D8-97F284F8EC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C422F1-0180-4F19-ABFC-95B6EF1CA8E5}"/>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1564180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CFA0-F83E-468C-89ED-493DFF2BB7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D2273D-2A8C-49D7-82DC-E1BB34E57599}"/>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4" name="Footer Placeholder 3">
            <a:extLst>
              <a:ext uri="{FF2B5EF4-FFF2-40B4-BE49-F238E27FC236}">
                <a16:creationId xmlns:a16="http://schemas.microsoft.com/office/drawing/2014/main" id="{ACBC67DA-60E6-4AF1-839E-9049EB90DF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9BB5F8-0607-4F8A-A3F0-BE4A4D99D21F}"/>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1203012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D95A5A-4AC3-4482-A475-E728274457E2}"/>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3" name="Footer Placeholder 2">
            <a:extLst>
              <a:ext uri="{FF2B5EF4-FFF2-40B4-BE49-F238E27FC236}">
                <a16:creationId xmlns:a16="http://schemas.microsoft.com/office/drawing/2014/main" id="{A8920F75-7ED7-4DC8-B247-3EE108878C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0CDBC3-C752-4273-8860-3B9D04854E5F}"/>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4069820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57963-DB56-474A-B29A-7B1D0B8444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0A50C2-990D-452A-A152-10628ABDE6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8FD292-BD0D-42F7-A8E0-354FE1D8A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F089B-FF88-4AC0-949F-34C0EB949C6C}"/>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6" name="Footer Placeholder 5">
            <a:extLst>
              <a:ext uri="{FF2B5EF4-FFF2-40B4-BE49-F238E27FC236}">
                <a16:creationId xmlns:a16="http://schemas.microsoft.com/office/drawing/2014/main" id="{D1571B31-D672-49CF-8897-36CC9A9AC1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E9ADEA-B5A6-4DDE-BCF1-3A3E9DAB2B39}"/>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3174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3CF7-CAB9-4CBA-B7EE-C67F76148F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A6231C-9E54-44B0-ACD6-BC8230B4E4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13ED12-D2DF-4AB1-85B3-F33CD9280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7D1DF5-51E5-49D5-BCB7-90F32F3ACD55}"/>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6" name="Footer Placeholder 5">
            <a:extLst>
              <a:ext uri="{FF2B5EF4-FFF2-40B4-BE49-F238E27FC236}">
                <a16:creationId xmlns:a16="http://schemas.microsoft.com/office/drawing/2014/main" id="{FE9FA9A8-3F7A-4CAB-B975-00743AC422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4853F8-8D4C-49AB-A9A3-C7DCF74D6994}"/>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1300028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E504-CF8F-402D-B6DD-DAF81BC698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BAAC92-27A3-4FF7-B824-CF88C7CAE7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601C1-8F58-4BBC-BBAE-8B4C0F953EC0}"/>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5" name="Footer Placeholder 4">
            <a:extLst>
              <a:ext uri="{FF2B5EF4-FFF2-40B4-BE49-F238E27FC236}">
                <a16:creationId xmlns:a16="http://schemas.microsoft.com/office/drawing/2014/main" id="{3D4A301C-A9E5-47F2-9C1B-F0650CE1E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7828FC-B0C3-4FBC-852A-28856F4C4ECB}"/>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1109302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31B5DD-905A-4ECD-A37B-079C0130AD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C55600-41DC-41EF-87C1-2273E40FB0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E465E-9529-4325-91D9-00B3B0458C04}"/>
              </a:ext>
            </a:extLst>
          </p:cNvPr>
          <p:cNvSpPr>
            <a:spLocks noGrp="1"/>
          </p:cNvSpPr>
          <p:nvPr>
            <p:ph type="dt" sz="half" idx="10"/>
          </p:nvPr>
        </p:nvSpPr>
        <p:spPr/>
        <p:txBody>
          <a:bodyPr/>
          <a:lstStyle/>
          <a:p>
            <a:fld id="{941BB892-304A-4DD9-BC59-5E78851F5B9E}" type="datetimeFigureOut">
              <a:rPr lang="en-US" smtClean="0"/>
              <a:t>2/2/2022</a:t>
            </a:fld>
            <a:endParaRPr lang="en-US"/>
          </a:p>
        </p:txBody>
      </p:sp>
      <p:sp>
        <p:nvSpPr>
          <p:cNvPr id="5" name="Footer Placeholder 4">
            <a:extLst>
              <a:ext uri="{FF2B5EF4-FFF2-40B4-BE49-F238E27FC236}">
                <a16:creationId xmlns:a16="http://schemas.microsoft.com/office/drawing/2014/main" id="{7C3F87D3-A06B-4DF6-BCF1-592F60E62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5F1D3F-3514-4B08-942B-93FAC79FCD66}"/>
              </a:ext>
            </a:extLst>
          </p:cNvPr>
          <p:cNvSpPr>
            <a:spLocks noGrp="1"/>
          </p:cNvSpPr>
          <p:nvPr>
            <p:ph type="sldNum" sz="quarter" idx="12"/>
          </p:nvPr>
        </p:nvSpPr>
        <p:spPr/>
        <p:txBody>
          <a:bodyPr/>
          <a:lstStyle/>
          <a:p>
            <a:fld id="{94B20E20-35AA-4ABD-A4F5-FE6FC5FF0F64}" type="slidenum">
              <a:rPr lang="en-US" smtClean="0"/>
              <a:t>‹#›</a:t>
            </a:fld>
            <a:endParaRPr lang="en-US"/>
          </a:p>
        </p:txBody>
      </p:sp>
    </p:spTree>
    <p:extLst>
      <p:ext uri="{BB962C8B-B14F-4D97-AF65-F5344CB8AC3E}">
        <p14:creationId xmlns:p14="http://schemas.microsoft.com/office/powerpoint/2010/main" val="42114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83354E-3385-46EF-BB7B-135BC92DFE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121859-CE96-4444-9F9E-F9B4AC99C0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6A18F-E1F7-4EA7-AD37-195FF031E7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BB892-304A-4DD9-BC59-5E78851F5B9E}" type="datetimeFigureOut">
              <a:rPr lang="en-US" smtClean="0"/>
              <a:t>2/2/2022</a:t>
            </a:fld>
            <a:endParaRPr lang="en-US"/>
          </a:p>
        </p:txBody>
      </p:sp>
      <p:sp>
        <p:nvSpPr>
          <p:cNvPr id="5" name="Footer Placeholder 4">
            <a:extLst>
              <a:ext uri="{FF2B5EF4-FFF2-40B4-BE49-F238E27FC236}">
                <a16:creationId xmlns:a16="http://schemas.microsoft.com/office/drawing/2014/main" id="{47A05BD3-51AF-4277-BF68-96CAFA98AC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0909EA-87E6-4029-A146-8D664FE338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B20E20-35AA-4ABD-A4F5-FE6FC5FF0F64}" type="slidenum">
              <a:rPr lang="en-US" smtClean="0"/>
              <a:t>‹#›</a:t>
            </a:fld>
            <a:endParaRPr lang="en-US"/>
          </a:p>
        </p:txBody>
      </p:sp>
    </p:spTree>
    <p:extLst>
      <p:ext uri="{BB962C8B-B14F-4D97-AF65-F5344CB8AC3E}">
        <p14:creationId xmlns:p14="http://schemas.microsoft.com/office/powerpoint/2010/main" val="1758317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a:solidFill>
                  <a:srgbClr val="FFFF00"/>
                </a:solidFill>
                <a:latin typeface="Times New Roman" panose="02020603050405020304" pitchFamily="18" charset="0"/>
                <a:cs typeface="Times New Roman" panose="02020603050405020304" pitchFamily="18" charset="0"/>
              </a:rPr>
              <a:t>Three ways working directories are determined:</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The R way</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The RStudio Projects way</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The way of the rest of the programming world</a:t>
            </a:r>
            <a:br>
              <a:rPr lang="en-US" u="sng" dirty="0">
                <a:solidFill>
                  <a:srgbClr val="FFFF00"/>
                </a:solidFill>
                <a:latin typeface="Times New Roman" panose="02020603050405020304" pitchFamily="18" charset="0"/>
                <a:cs typeface="Times New Roman" panose="02020603050405020304" pitchFamily="18" charset="0"/>
              </a:rPr>
            </a:br>
            <a:endParaRPr lang="en-US"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96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a:solidFill>
                  <a:srgbClr val="FFFF00"/>
                </a:solidFill>
                <a:latin typeface="Times New Roman" panose="02020603050405020304" pitchFamily="18" charset="0"/>
                <a:cs typeface="Times New Roman" panose="02020603050405020304" pitchFamily="18" charset="0"/>
              </a:rPr>
              <a:t>Working Directories: The R way</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Working directory is a </a:t>
            </a:r>
            <a:r>
              <a:rPr lang="en-US" dirty="0">
                <a:solidFill>
                  <a:srgbClr val="FF0000"/>
                </a:solidFill>
                <a:latin typeface="Times New Roman" panose="02020603050405020304" pitchFamily="18" charset="0"/>
                <a:cs typeface="Times New Roman" panose="02020603050405020304" pitchFamily="18" charset="0"/>
              </a:rPr>
              <a:t>Session Variable </a:t>
            </a:r>
            <a:r>
              <a:rPr lang="en-US" dirty="0">
                <a:solidFill>
                  <a:srgbClr val="FFFF00"/>
                </a:solidFill>
                <a:latin typeface="Times New Roman" panose="02020603050405020304" pitchFamily="18" charset="0"/>
                <a:cs typeface="Times New Roman" panose="02020603050405020304" pitchFamily="18" charset="0"/>
              </a:rPr>
              <a:t>– meaning all open script files have the same Working Directory.</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If no Working Directory is set in script, the Working Directory is the folder that contains the first opened script.</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Changing the Working Directory in one open script change it for all open scripts.</a:t>
            </a:r>
          </a:p>
        </p:txBody>
      </p:sp>
    </p:spTree>
    <p:extLst>
      <p:ext uri="{BB962C8B-B14F-4D97-AF65-F5344CB8AC3E}">
        <p14:creationId xmlns:p14="http://schemas.microsoft.com/office/powerpoint/2010/main" val="2203167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a:solidFill>
                  <a:srgbClr val="FFFF00"/>
                </a:solidFill>
                <a:latin typeface="Times New Roman" panose="02020603050405020304" pitchFamily="18" charset="0"/>
                <a:cs typeface="Times New Roman" panose="02020603050405020304" pitchFamily="18" charset="0"/>
              </a:rPr>
              <a:t>Working Directories: The RStudio Projects way</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A hack on R…</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RStudio Projects create a new Session that sets the Working Directory to the Project Folder (the folder with the *.</a:t>
            </a:r>
            <a:r>
              <a:rPr lang="en-US" dirty="0" err="1">
                <a:solidFill>
                  <a:srgbClr val="FFFF00"/>
                </a:solidFill>
                <a:latin typeface="Times New Roman" panose="02020603050405020304" pitchFamily="18" charset="0"/>
                <a:cs typeface="Times New Roman" panose="02020603050405020304" pitchFamily="18" charset="0"/>
              </a:rPr>
              <a:t>Rproj</a:t>
            </a:r>
            <a:r>
              <a:rPr lang="en-US" dirty="0">
                <a:solidFill>
                  <a:srgbClr val="FFFF00"/>
                </a:solidFill>
                <a:latin typeface="Times New Roman" panose="02020603050405020304" pitchFamily="18" charset="0"/>
                <a:cs typeface="Times New Roman" panose="02020603050405020304" pitchFamily="18" charset="0"/>
              </a:rPr>
              <a:t> file)</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You can have multiple RStudio Project in multiple Sessions – and they will have different Working Directories.</a:t>
            </a:r>
          </a:p>
        </p:txBody>
      </p:sp>
    </p:spTree>
    <p:extLst>
      <p:ext uri="{BB962C8B-B14F-4D97-AF65-F5344CB8AC3E}">
        <p14:creationId xmlns:p14="http://schemas.microsoft.com/office/powerpoint/2010/main" val="591099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a:solidFill>
                  <a:srgbClr val="FFFF00"/>
                </a:solidFill>
                <a:latin typeface="Times New Roman" panose="02020603050405020304" pitchFamily="18" charset="0"/>
                <a:cs typeface="Times New Roman" panose="02020603050405020304" pitchFamily="18" charset="0"/>
              </a:rPr>
              <a:t>Working Directories: The rest of the world</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There is no Working Directory.</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More to the point, the Working Directory is file specific.  The folder a file is in is the file’s Working Directory </a:t>
            </a:r>
          </a:p>
        </p:txBody>
      </p:sp>
    </p:spTree>
    <p:extLst>
      <p:ext uri="{BB962C8B-B14F-4D97-AF65-F5344CB8AC3E}">
        <p14:creationId xmlns:p14="http://schemas.microsoft.com/office/powerpoint/2010/main" val="1617168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err="1">
                <a:solidFill>
                  <a:srgbClr val="FFFF00"/>
                </a:solidFill>
                <a:latin typeface="Times New Roman" panose="02020603050405020304" pitchFamily="18" charset="0"/>
                <a:cs typeface="Times New Roman" panose="02020603050405020304" pitchFamily="18" charset="0"/>
              </a:rPr>
              <a:t>KnitR</a:t>
            </a:r>
            <a:r>
              <a:rPr lang="en-US" u="sng" dirty="0">
                <a:solidFill>
                  <a:srgbClr val="FFFF00"/>
                </a:solidFill>
                <a:latin typeface="Times New Roman" panose="02020603050405020304" pitchFamily="18" charset="0"/>
                <a:cs typeface="Times New Roman" panose="02020603050405020304" pitchFamily="18" charset="0"/>
              </a:rPr>
              <a:t> &gt; </a:t>
            </a:r>
            <a:r>
              <a:rPr lang="en-US" u="sng" dirty="0" err="1">
                <a:solidFill>
                  <a:srgbClr val="FFFF00"/>
                </a:solidFill>
                <a:latin typeface="Times New Roman" panose="02020603050405020304" pitchFamily="18" charset="0"/>
                <a:cs typeface="Times New Roman" panose="02020603050405020304" pitchFamily="18" charset="0"/>
              </a:rPr>
              <a:t>RMarkDown</a:t>
            </a:r>
            <a:r>
              <a:rPr lang="en-US" u="sng" dirty="0">
                <a:solidFill>
                  <a:srgbClr val="FFFF00"/>
                </a:solidFill>
                <a:latin typeface="Times New Roman" panose="02020603050405020304" pitchFamily="18" charset="0"/>
                <a:cs typeface="Times New Roman" panose="02020603050405020304" pitchFamily="18" charset="0"/>
              </a:rPr>
              <a:t>:</a:t>
            </a:r>
            <a:br>
              <a:rPr lang="en-US" u="sng" dirty="0">
                <a:solidFill>
                  <a:srgbClr val="FFFF00"/>
                </a:solidFill>
                <a:latin typeface="Times New Roman" panose="02020603050405020304" pitchFamily="18" charset="0"/>
                <a:cs typeface="Times New Roman" panose="02020603050405020304" pitchFamily="18" charset="0"/>
              </a:rPr>
            </a:br>
            <a:r>
              <a:rPr lang="en-US" dirty="0" err="1">
                <a:solidFill>
                  <a:srgbClr val="FFFF00"/>
                </a:solidFill>
                <a:latin typeface="Times New Roman" panose="02020603050405020304" pitchFamily="18" charset="0"/>
                <a:cs typeface="Times New Roman" panose="02020603050405020304" pitchFamily="18" charset="0"/>
              </a:rPr>
              <a:t>KnitR</a:t>
            </a:r>
            <a:r>
              <a:rPr lang="en-US" dirty="0">
                <a:solidFill>
                  <a:srgbClr val="FFFF00"/>
                </a:solidFill>
                <a:latin typeface="Times New Roman" panose="02020603050405020304" pitchFamily="18" charset="0"/>
                <a:cs typeface="Times New Roman" panose="02020603050405020304" pitchFamily="18" charset="0"/>
              </a:rPr>
              <a:t> is the technology that “stitches” formatted text with R code and plots.</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err="1">
                <a:solidFill>
                  <a:srgbClr val="FFFF00"/>
                </a:solidFill>
                <a:latin typeface="Times New Roman" panose="02020603050405020304" pitchFamily="18" charset="0"/>
                <a:cs typeface="Times New Roman" panose="02020603050405020304" pitchFamily="18" charset="0"/>
              </a:rPr>
              <a:t>RMarkDown</a:t>
            </a:r>
            <a:r>
              <a:rPr lang="en-US" dirty="0">
                <a:solidFill>
                  <a:srgbClr val="FFFF00"/>
                </a:solidFill>
                <a:latin typeface="Times New Roman" panose="02020603050405020304" pitchFamily="18" charset="0"/>
                <a:cs typeface="Times New Roman" panose="02020603050405020304" pitchFamily="18" charset="0"/>
              </a:rPr>
              <a:t> is a language that formats the text</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3248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err="1">
                <a:solidFill>
                  <a:srgbClr val="FFFF00"/>
                </a:solidFill>
                <a:latin typeface="Times New Roman" panose="02020603050405020304" pitchFamily="18" charset="0"/>
                <a:cs typeface="Times New Roman" panose="02020603050405020304" pitchFamily="18" charset="0"/>
              </a:rPr>
              <a:t>RMarkDown</a:t>
            </a:r>
            <a:r>
              <a:rPr lang="en-US" u="sng" dirty="0">
                <a:solidFill>
                  <a:srgbClr val="FFFF00"/>
                </a:solidFill>
                <a:latin typeface="Times New Roman" panose="02020603050405020304" pitchFamily="18" charset="0"/>
                <a:cs typeface="Times New Roman" panose="02020603050405020304" pitchFamily="18" charset="0"/>
              </a:rPr>
              <a:t>:</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RMD produces HTML (web pages), LaTeX (PDF), and OOXML (DOCX).</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It does none of them well!  Hence, you are limited to very basic formatting</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You can skip RMD and directly use HTML, LaTeX, or OOXML in </a:t>
            </a:r>
            <a:r>
              <a:rPr lang="en-US" dirty="0" err="1">
                <a:solidFill>
                  <a:srgbClr val="FFFF00"/>
                </a:solidFill>
                <a:latin typeface="Times New Roman" panose="02020603050405020304" pitchFamily="18" charset="0"/>
                <a:cs typeface="Times New Roman" panose="02020603050405020304" pitchFamily="18" charset="0"/>
              </a:rPr>
              <a:t>KnitR</a:t>
            </a:r>
            <a:r>
              <a:rPr lang="en-US" dirty="0">
                <a:solidFill>
                  <a:srgbClr val="FFFF00"/>
                </a:solidFill>
                <a:latin typeface="Times New Roman" panose="02020603050405020304" pitchFamily="18" charset="0"/>
                <a:cs typeface="Times New Roman" panose="02020603050405020304" pitchFamily="18" charset="0"/>
              </a:rPr>
              <a:t>.  I’d only recommend HTML.</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173CBCA-9686-4C7B-B844-16CD478CA249}"/>
              </a:ext>
            </a:extLst>
          </p:cNvPr>
          <p:cNvSpPr txBox="1"/>
          <p:nvPr/>
        </p:nvSpPr>
        <p:spPr>
          <a:xfrm>
            <a:off x="3020786" y="3244334"/>
            <a:ext cx="6198324" cy="369332"/>
          </a:xfrm>
          <a:prstGeom prst="rect">
            <a:avLst/>
          </a:prstGeom>
          <a:noFill/>
        </p:spPr>
        <p:txBody>
          <a:bodyPr wrap="square">
            <a:spAutoFit/>
          </a:bodyPr>
          <a:lstStyle/>
          <a:p>
            <a:r>
              <a:rPr lang="vi-VN" dirty="0"/>
              <a:t>lesson05-ModifyMappedElements-new.R</a:t>
            </a:r>
          </a:p>
        </p:txBody>
      </p:sp>
    </p:spTree>
    <p:extLst>
      <p:ext uri="{BB962C8B-B14F-4D97-AF65-F5344CB8AC3E}">
        <p14:creationId xmlns:p14="http://schemas.microsoft.com/office/powerpoint/2010/main" val="26816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err="1">
                <a:solidFill>
                  <a:srgbClr val="FFFF00"/>
                </a:solidFill>
                <a:latin typeface="Times New Roman" panose="02020603050405020304" pitchFamily="18" charset="0"/>
                <a:cs typeface="Times New Roman" panose="02020603050405020304" pitchFamily="18" charset="0"/>
              </a:rPr>
              <a:t>KnitR</a:t>
            </a:r>
            <a:r>
              <a:rPr lang="en-US" u="sng" dirty="0">
                <a:solidFill>
                  <a:srgbClr val="FFFF00"/>
                </a:solidFill>
                <a:latin typeface="Times New Roman" panose="02020603050405020304" pitchFamily="18" charset="0"/>
                <a:cs typeface="Times New Roman" panose="02020603050405020304" pitchFamily="18" charset="0"/>
              </a:rPr>
              <a:t> first time:</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 Installs a lot of package</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 Needs </a:t>
            </a:r>
            <a:r>
              <a:rPr lang="en-US" dirty="0" err="1">
                <a:solidFill>
                  <a:srgbClr val="FFFF00"/>
                </a:solidFill>
                <a:latin typeface="Times New Roman" panose="02020603050405020304" pitchFamily="18" charset="0"/>
                <a:cs typeface="Times New Roman" panose="02020603050405020304" pitchFamily="18" charset="0"/>
              </a:rPr>
              <a:t>MikTex</a:t>
            </a:r>
            <a:r>
              <a:rPr lang="en-US" dirty="0">
                <a:solidFill>
                  <a:srgbClr val="FFFF00"/>
                </a:solidFill>
                <a:latin typeface="Times New Roman" panose="02020603050405020304" pitchFamily="18" charset="0"/>
                <a:cs typeface="Times New Roman" panose="02020603050405020304" pitchFamily="18" charset="0"/>
              </a:rPr>
              <a:t>/</a:t>
            </a:r>
            <a:r>
              <a:rPr lang="en-US" dirty="0" err="1">
                <a:solidFill>
                  <a:srgbClr val="FFFF00"/>
                </a:solidFill>
                <a:latin typeface="Times New Roman" panose="02020603050405020304" pitchFamily="18" charset="0"/>
                <a:cs typeface="Times New Roman" panose="02020603050405020304" pitchFamily="18" charset="0"/>
              </a:rPr>
              <a:t>MacTex</a:t>
            </a:r>
            <a:r>
              <a:rPr lang="en-US" dirty="0">
                <a:solidFill>
                  <a:srgbClr val="FFFF00"/>
                </a:solidFill>
                <a:latin typeface="Times New Roman" panose="02020603050405020304" pitchFamily="18" charset="0"/>
                <a:cs typeface="Times New Roman" panose="02020603050405020304" pitchFamily="18" charset="0"/>
              </a:rPr>
              <a:t> to create PDFs</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 Will be very slow creating the first PDF because it is downloading a bunch of updates</a:t>
            </a:r>
          </a:p>
        </p:txBody>
      </p:sp>
    </p:spTree>
    <p:extLst>
      <p:ext uri="{BB962C8B-B14F-4D97-AF65-F5344CB8AC3E}">
        <p14:creationId xmlns:p14="http://schemas.microsoft.com/office/powerpoint/2010/main" val="259290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7E7-0486-4E1C-929A-58A083BDF5ED}"/>
              </a:ext>
            </a:extLst>
          </p:cNvPr>
          <p:cNvSpPr>
            <a:spLocks noGrp="1"/>
          </p:cNvSpPr>
          <p:nvPr>
            <p:ph type="title"/>
          </p:nvPr>
        </p:nvSpPr>
        <p:spPr>
          <a:xfrm>
            <a:off x="0" y="0"/>
            <a:ext cx="12191999" cy="6858000"/>
          </a:xfrm>
        </p:spPr>
        <p:txBody>
          <a:bodyPr>
            <a:normAutofit/>
          </a:bodyPr>
          <a:lstStyle/>
          <a:p>
            <a:pPr algn="ctr"/>
            <a:r>
              <a:rPr lang="en-US" u="sng" dirty="0">
                <a:solidFill>
                  <a:srgbClr val="FFFF00"/>
                </a:solidFill>
                <a:latin typeface="Times New Roman" panose="02020603050405020304" pitchFamily="18" charset="0"/>
                <a:cs typeface="Times New Roman" panose="02020603050405020304" pitchFamily="18" charset="0"/>
              </a:rPr>
              <a:t>Git/GitHub:</a:t>
            </a:r>
            <a:br>
              <a:rPr lang="en-US" u="sng"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Git: very robust versioning software installed on your computer</a:t>
            </a:r>
            <a:br>
              <a:rPr lang="en-US" dirty="0">
                <a:solidFill>
                  <a:srgbClr val="FFFF00"/>
                </a:solidFill>
                <a:latin typeface="Times New Roman" panose="02020603050405020304" pitchFamily="18" charset="0"/>
                <a:cs typeface="Times New Roman" panose="02020603050405020304" pitchFamily="18" charset="0"/>
              </a:rPr>
            </a:b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GitHub: Online storage of your Projects that use Git</a:t>
            </a:r>
          </a:p>
        </p:txBody>
      </p:sp>
    </p:spTree>
    <p:extLst>
      <p:ext uri="{BB962C8B-B14F-4D97-AF65-F5344CB8AC3E}">
        <p14:creationId xmlns:p14="http://schemas.microsoft.com/office/powerpoint/2010/main" val="3741122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89F8B143-022E-43B7-8D56-8B0E3BF83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2145" y="0"/>
            <a:ext cx="7647710" cy="6653509"/>
          </a:xfrm>
          <a:prstGeom prst="rect">
            <a:avLst/>
          </a:prstGeom>
        </p:spPr>
      </p:pic>
    </p:spTree>
    <p:extLst>
      <p:ext uri="{BB962C8B-B14F-4D97-AF65-F5344CB8AC3E}">
        <p14:creationId xmlns:p14="http://schemas.microsoft.com/office/powerpoint/2010/main" val="3387797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29A48B83221254486C96EE70ACBA9A6" ma:contentTypeVersion="10" ma:contentTypeDescription="Create a new document." ma:contentTypeScope="" ma:versionID="d844dac8e12526486ae412b8ae44e3c2">
  <xsd:schema xmlns:xsd="http://www.w3.org/2001/XMLSchema" xmlns:xs="http://www.w3.org/2001/XMLSchema" xmlns:p="http://schemas.microsoft.com/office/2006/metadata/properties" xmlns:ns2="34e6b996-c1f6-4024-b553-22dbb926185e" xmlns:ns3="393f1106-018a-42d8-ab30-9984f9d2929a" targetNamespace="http://schemas.microsoft.com/office/2006/metadata/properties" ma:root="true" ma:fieldsID="a1f36514c3211555ce26ca8b787f5a6e" ns2:_="" ns3:_="">
    <xsd:import namespace="34e6b996-c1f6-4024-b553-22dbb926185e"/>
    <xsd:import namespace="393f1106-018a-42d8-ab30-9984f9d2929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e6b996-c1f6-4024-b553-22dbb926185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3f1106-018a-42d8-ab30-9984f9d2929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4e6b996-c1f6-4024-b553-22dbb926185e">
      <UserInfo>
        <DisplayName/>
        <AccountId xsi:nil="true"/>
        <AccountType/>
      </UserInfo>
    </SharedWithUsers>
  </documentManagement>
</p:properties>
</file>

<file path=customXml/itemProps1.xml><?xml version="1.0" encoding="utf-8"?>
<ds:datastoreItem xmlns:ds="http://schemas.openxmlformats.org/officeDocument/2006/customXml" ds:itemID="{8C3E49DB-369F-46E8-8388-BDF37736F13A}">
  <ds:schemaRefs>
    <ds:schemaRef ds:uri="http://schemas.microsoft.com/sharepoint/v3/contenttype/forms"/>
  </ds:schemaRefs>
</ds:datastoreItem>
</file>

<file path=customXml/itemProps2.xml><?xml version="1.0" encoding="utf-8"?>
<ds:datastoreItem xmlns:ds="http://schemas.openxmlformats.org/officeDocument/2006/customXml" ds:itemID="{F99427BD-8D21-42D5-901D-9F4A840F44E4}"/>
</file>

<file path=customXml/itemProps3.xml><?xml version="1.0" encoding="utf-8"?>
<ds:datastoreItem xmlns:ds="http://schemas.openxmlformats.org/officeDocument/2006/customXml" ds:itemID="{605D15B3-B590-43F3-AC20-441330526397}">
  <ds:schemaRefs>
    <ds:schemaRef ds:uri="http://purl.org/dc/elements/1.1/"/>
    <ds:schemaRef ds:uri="http://schemas.microsoft.com/sharepoint/v3"/>
    <ds:schemaRef ds:uri="http://schemas.microsoft.com/office/infopath/2007/PartnerControls"/>
    <ds:schemaRef ds:uri="http://schemas.microsoft.com/office/2006/documentManagement/types"/>
    <ds:schemaRef ds:uri="b248de5a-1419-4918-96b9-b3242b854abc"/>
    <ds:schemaRef ds:uri="http://www.w3.org/XML/1998/namespace"/>
    <ds:schemaRef ds:uri="http://schemas.openxmlformats.org/package/2006/metadata/core-properties"/>
    <ds:schemaRef ds:uri="http://purl.org/dc/terms/"/>
    <ds:schemaRef ds:uri="5662f12b-3453-4479-8b12-66d6bdcc6b72"/>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380</TotalTime>
  <Words>355</Words>
  <Application>Microsoft Office PowerPoint</Application>
  <PresentationFormat>Widescreen</PresentationFormat>
  <Paragraphs>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Three ways working directories are determined: The R way The RStudio Projects way The way of the rest of the programming world </vt:lpstr>
      <vt:lpstr>Working Directories: The R way Working directory is a Session Variable – meaning all open script files have the same Working Directory.  If no Working Directory is set in script, the Working Directory is the folder that contains the first opened script.  Changing the Working Directory in one open script change it for all open scripts.</vt:lpstr>
      <vt:lpstr>Working Directories: The RStudio Projects way A hack on R…  RStudio Projects create a new Session that sets the Working Directory to the Project Folder (the folder with the *.Rproj file)  You can have multiple RStudio Project in multiple Sessions – and they will have different Working Directories.</vt:lpstr>
      <vt:lpstr>Working Directories: The rest of the world There is no Working Directory.  More to the point, the Working Directory is file specific.  The folder a file is in is the file’s Working Directory </vt:lpstr>
      <vt:lpstr>KnitR &gt; RMarkDown: KnitR is the technology that “stitches” formatted text with R code and plots.  RMarkDown is a language that formats the text  </vt:lpstr>
      <vt:lpstr>RMarkDown: RMD produces HTML (web pages), LaTeX (PDF), and OOXML (DOCX).  It does none of them well!  Hence, you are limited to very basic formatting  You can skip RMD and directly use HTML, LaTeX, or OOXML in KnitR.  I’d only recommend HTML.  </vt:lpstr>
      <vt:lpstr>KnitR first time: - Installs a lot of package - Needs MikTex/MacTex to create PDFs - Will be very slow creating the first PDF because it is downloading a bunch of updates</vt:lpstr>
      <vt:lpstr>Git/GitHub: Git: very robust versioning software installed on your computer  GitHub: Online storage of your Projects that use Git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 topics: RStudio/ RStudio Projects Git/GitHub GGPlot RMarkdown (KnitR) Rshiny RMapping </dc:title>
  <dc:creator>Charles Belinsky</dc:creator>
  <cp:lastModifiedBy>Charlie Belinsky</cp:lastModifiedBy>
  <cp:revision>3</cp:revision>
  <dcterms:created xsi:type="dcterms:W3CDTF">2021-12-14T13:35:18Z</dcterms:created>
  <dcterms:modified xsi:type="dcterms:W3CDTF">2022-02-03T02:08:57Z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0x010100B29A48B83221254486C96EE70ACBA9A6</vt:lpwstr>
  </property>
  <property fmtid="{D5CDD505-2E9C-101B-9397-08002B2CF9AE}" pid="3" name="_SourceUrl">
    <vt:lpwstr/>
  </property>
  <property fmtid="{D5CDD505-2E9C-101B-9397-08002B2CF9AE}" pid="4" name="_SharedFileIndex">
    <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