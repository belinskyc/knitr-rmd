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74" r:id="rId5"/>
    <p:sldId id="275" r:id="rId6"/>
    <p:sldId id="278" r:id="rId7"/>
    <p:sldId id="277" r:id="rId8"/>
    <p:sldId id="256" r:id="rId9"/>
    <p:sldId id="265" r:id="rId10"/>
    <p:sldId id="270" r:id="rId11"/>
    <p:sldId id="271" r:id="rId12"/>
    <p:sldId id="266" r:id="rId13"/>
    <p:sldId id="272" r:id="rId14"/>
    <p:sldId id="273" r:id="rId15"/>
    <p:sldId id="279" r:id="rId16"/>
    <p:sldId id="267" r:id="rId17"/>
    <p:sldId id="280"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EDC3ED-24B2-41CE-BB6C-6AA851E22884}" v="5" dt="2022-02-02T14:19:27.1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642" autoAdjust="0"/>
    <p:restoredTop sz="94660"/>
  </p:normalViewPr>
  <p:slideViewPr>
    <p:cSldViewPr snapToGrid="0">
      <p:cViewPr varScale="1">
        <p:scale>
          <a:sx n="83" d="100"/>
          <a:sy n="83" d="100"/>
        </p:scale>
        <p:origin x="120"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rles Belinsky" userId="df390934-7dca-40c8-90db-c8d8d67e4ef2" providerId="ADAL" clId="{39EDC3ED-24B2-41CE-BB6C-6AA851E22884}"/>
    <pc:docChg chg="undo custSel addSld delSld modSld">
      <pc:chgData name="Charles Belinsky" userId="df390934-7dca-40c8-90db-c8d8d67e4ef2" providerId="ADAL" clId="{39EDC3ED-24B2-41CE-BB6C-6AA851E22884}" dt="2022-02-03T02:08:36.383" v="2759" actId="207"/>
      <pc:docMkLst>
        <pc:docMk/>
      </pc:docMkLst>
      <pc:sldChg chg="modSp mod">
        <pc:chgData name="Charles Belinsky" userId="df390934-7dca-40c8-90db-c8d8d67e4ef2" providerId="ADAL" clId="{39EDC3ED-24B2-41CE-BB6C-6AA851E22884}" dt="2022-02-02T13:43:10.093" v="197" actId="20577"/>
        <pc:sldMkLst>
          <pc:docMk/>
          <pc:sldMk cId="947962440" sldId="256"/>
        </pc:sldMkLst>
        <pc:spChg chg="mod">
          <ac:chgData name="Charles Belinsky" userId="df390934-7dca-40c8-90db-c8d8d67e4ef2" providerId="ADAL" clId="{39EDC3ED-24B2-41CE-BB6C-6AA851E22884}" dt="2022-02-02T13:43:10.093" v="197" actId="20577"/>
          <ac:spMkLst>
            <pc:docMk/>
            <pc:sldMk cId="947962440" sldId="256"/>
            <ac:spMk id="2" creationId="{BA1E47E7-0486-4E1C-929A-58A083BDF5ED}"/>
          </ac:spMkLst>
        </pc:spChg>
      </pc:sldChg>
      <pc:sldChg chg="del">
        <pc:chgData name="Charles Belinsky" userId="df390934-7dca-40c8-90db-c8d8d67e4ef2" providerId="ADAL" clId="{39EDC3ED-24B2-41CE-BB6C-6AA851E22884}" dt="2022-02-03T02:07:58.989" v="2758" actId="47"/>
        <pc:sldMkLst>
          <pc:docMk/>
          <pc:sldMk cId="3479799619" sldId="258"/>
        </pc:sldMkLst>
      </pc:sldChg>
      <pc:sldChg chg="modSp mod">
        <pc:chgData name="Charles Belinsky" userId="df390934-7dca-40c8-90db-c8d8d67e4ef2" providerId="ADAL" clId="{39EDC3ED-24B2-41CE-BB6C-6AA851E22884}" dt="2022-02-02T13:46:41.902" v="679" actId="20577"/>
        <pc:sldMkLst>
          <pc:docMk/>
          <pc:sldMk cId="2203167127" sldId="265"/>
        </pc:sldMkLst>
        <pc:spChg chg="mod">
          <ac:chgData name="Charles Belinsky" userId="df390934-7dca-40c8-90db-c8d8d67e4ef2" providerId="ADAL" clId="{39EDC3ED-24B2-41CE-BB6C-6AA851E22884}" dt="2022-02-02T13:46:41.902" v="679" actId="20577"/>
          <ac:spMkLst>
            <pc:docMk/>
            <pc:sldMk cId="2203167127" sldId="265"/>
            <ac:spMk id="2" creationId="{BA1E47E7-0486-4E1C-929A-58A083BDF5ED}"/>
          </ac:spMkLst>
        </pc:spChg>
      </pc:sldChg>
      <pc:sldChg chg="modSp mod">
        <pc:chgData name="Charles Belinsky" userId="df390934-7dca-40c8-90db-c8d8d67e4ef2" providerId="ADAL" clId="{39EDC3ED-24B2-41CE-BB6C-6AA851E22884}" dt="2022-02-03T02:08:36.383" v="2759" actId="207"/>
        <pc:sldMkLst>
          <pc:docMk/>
          <pc:sldMk cId="1432489684" sldId="266"/>
        </pc:sldMkLst>
        <pc:spChg chg="mod">
          <ac:chgData name="Charles Belinsky" userId="df390934-7dca-40c8-90db-c8d8d67e4ef2" providerId="ADAL" clId="{39EDC3ED-24B2-41CE-BB6C-6AA851E22884}" dt="2022-02-03T02:08:36.383" v="2759" actId="207"/>
          <ac:spMkLst>
            <pc:docMk/>
            <pc:sldMk cId="1432489684" sldId="266"/>
            <ac:spMk id="2" creationId="{BA1E47E7-0486-4E1C-929A-58A083BDF5ED}"/>
          </ac:spMkLst>
        </pc:spChg>
      </pc:sldChg>
      <pc:sldChg chg="del">
        <pc:chgData name="Charles Belinsky" userId="df390934-7dca-40c8-90db-c8d8d67e4ef2" providerId="ADAL" clId="{39EDC3ED-24B2-41CE-BB6C-6AA851E22884}" dt="2022-02-03T02:07:57.373" v="2757" actId="47"/>
        <pc:sldMkLst>
          <pc:docMk/>
          <pc:sldMk cId="265643032" sldId="269"/>
        </pc:sldMkLst>
      </pc:sldChg>
      <pc:sldChg chg="modSp add mod">
        <pc:chgData name="Charles Belinsky" userId="df390934-7dca-40c8-90db-c8d8d67e4ef2" providerId="ADAL" clId="{39EDC3ED-24B2-41CE-BB6C-6AA851E22884}" dt="2022-02-02T13:57:35.631" v="1080" actId="20577"/>
        <pc:sldMkLst>
          <pc:docMk/>
          <pc:sldMk cId="591099552" sldId="270"/>
        </pc:sldMkLst>
        <pc:spChg chg="mod">
          <ac:chgData name="Charles Belinsky" userId="df390934-7dca-40c8-90db-c8d8d67e4ef2" providerId="ADAL" clId="{39EDC3ED-24B2-41CE-BB6C-6AA851E22884}" dt="2022-02-02T13:57:35.631" v="1080" actId="20577"/>
          <ac:spMkLst>
            <pc:docMk/>
            <pc:sldMk cId="591099552" sldId="270"/>
            <ac:spMk id="2" creationId="{BA1E47E7-0486-4E1C-929A-58A083BDF5ED}"/>
          </ac:spMkLst>
        </pc:spChg>
      </pc:sldChg>
      <pc:sldChg chg="modSp add mod">
        <pc:chgData name="Charles Belinsky" userId="df390934-7dca-40c8-90db-c8d8d67e4ef2" providerId="ADAL" clId="{39EDC3ED-24B2-41CE-BB6C-6AA851E22884}" dt="2022-02-03T02:05:37.533" v="2649" actId="20577"/>
        <pc:sldMkLst>
          <pc:docMk/>
          <pc:sldMk cId="1617168973" sldId="271"/>
        </pc:sldMkLst>
        <pc:spChg chg="mod">
          <ac:chgData name="Charles Belinsky" userId="df390934-7dca-40c8-90db-c8d8d67e4ef2" providerId="ADAL" clId="{39EDC3ED-24B2-41CE-BB6C-6AA851E22884}" dt="2022-02-03T02:05:37.533" v="2649" actId="20577"/>
          <ac:spMkLst>
            <pc:docMk/>
            <pc:sldMk cId="1617168973" sldId="271"/>
            <ac:spMk id="2" creationId="{BA1E47E7-0486-4E1C-929A-58A083BDF5ED}"/>
          </ac:spMkLst>
        </pc:spChg>
      </pc:sldChg>
      <pc:sldChg chg="addSp modSp add del mod">
        <pc:chgData name="Charles Belinsky" userId="df390934-7dca-40c8-90db-c8d8d67e4ef2" providerId="ADAL" clId="{39EDC3ED-24B2-41CE-BB6C-6AA851E22884}" dt="2022-02-03T02:06:10.409" v="2655" actId="20577"/>
        <pc:sldMkLst>
          <pc:docMk/>
          <pc:sldMk cId="268168094" sldId="272"/>
        </pc:sldMkLst>
        <pc:spChg chg="mod">
          <ac:chgData name="Charles Belinsky" userId="df390934-7dca-40c8-90db-c8d8d67e4ef2" providerId="ADAL" clId="{39EDC3ED-24B2-41CE-BB6C-6AA851E22884}" dt="2022-02-03T02:06:10.409" v="2655" actId="20577"/>
          <ac:spMkLst>
            <pc:docMk/>
            <pc:sldMk cId="268168094" sldId="272"/>
            <ac:spMk id="2" creationId="{BA1E47E7-0486-4E1C-929A-58A083BDF5ED}"/>
          </ac:spMkLst>
        </pc:spChg>
        <pc:spChg chg="add">
          <ac:chgData name="Charles Belinsky" userId="df390934-7dca-40c8-90db-c8d8d67e4ef2" providerId="ADAL" clId="{39EDC3ED-24B2-41CE-BB6C-6AA851E22884}" dt="2022-02-02T14:19:21.062" v="2300" actId="22"/>
          <ac:spMkLst>
            <pc:docMk/>
            <pc:sldMk cId="268168094" sldId="272"/>
            <ac:spMk id="4" creationId="{7173CBCA-9686-4C7B-B844-16CD478CA249}"/>
          </ac:spMkLst>
        </pc:spChg>
      </pc:sldChg>
      <pc:sldChg chg="delSp modSp add mod">
        <pc:chgData name="Charles Belinsky" userId="df390934-7dca-40c8-90db-c8d8d67e4ef2" providerId="ADAL" clId="{39EDC3ED-24B2-41CE-BB6C-6AA851E22884}" dt="2022-02-03T02:07:50.244" v="2756" actId="20577"/>
        <pc:sldMkLst>
          <pc:docMk/>
          <pc:sldMk cId="2592903178" sldId="273"/>
        </pc:sldMkLst>
        <pc:spChg chg="mod">
          <ac:chgData name="Charles Belinsky" userId="df390934-7dca-40c8-90db-c8d8d67e4ef2" providerId="ADAL" clId="{39EDC3ED-24B2-41CE-BB6C-6AA851E22884}" dt="2022-02-03T02:07:50.244" v="2756" actId="20577"/>
          <ac:spMkLst>
            <pc:docMk/>
            <pc:sldMk cId="2592903178" sldId="273"/>
            <ac:spMk id="2" creationId="{BA1E47E7-0486-4E1C-929A-58A083BDF5ED}"/>
          </ac:spMkLst>
        </pc:spChg>
        <pc:spChg chg="del mod">
          <ac:chgData name="Charles Belinsky" userId="df390934-7dca-40c8-90db-c8d8d67e4ef2" providerId="ADAL" clId="{39EDC3ED-24B2-41CE-BB6C-6AA851E22884}" dt="2022-02-03T02:06:55.793" v="2660" actId="21"/>
          <ac:spMkLst>
            <pc:docMk/>
            <pc:sldMk cId="2592903178" sldId="273"/>
            <ac:spMk id="4" creationId="{7173CBCA-9686-4C7B-B844-16CD478CA24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AE16A-DE90-452F-975A-56CDC85BE5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6FAAFC-11FE-4361-BC22-D9A7848686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A74D9A-A631-41E0-B100-9DDBE0D211F4}"/>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8FF2BF62-17A1-4CAA-B184-AD743E3697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BB0EDC-2E3F-4311-848E-AD684AEC0A88}"/>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0458010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9DA05-B30B-4B83-8A4E-9F13C120D5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9A8731-A777-4144-8046-535C83BF85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31D628-2E8A-456A-B1A0-ABED3A8AEF7C}"/>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52E7CBC7-4854-4351-BD5E-F69C0CAF7F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0F9BD-EB29-4985-A32A-AC0236B6E35A}"/>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914906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EAF45-938F-49A5-BD00-CF76D4FEA5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F27273-FE76-4F53-A248-FBBA17041BA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62307A0-40EA-4904-A21A-29D5907DFED0}"/>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F4BEC294-B396-4286-92B5-E3B390C166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8D8469-BCF1-4BC6-9D8B-03FE3D10ABD3}"/>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555184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B9B27-6224-4960-B4AD-56F94E0440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33487D-AE80-4021-9B60-8C2E07CF92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748DE8-F5D7-49DC-9AE0-2DF988DACC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581947-9CB5-4886-B1C1-A8786D9CCFAA}"/>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18D82E52-F244-4387-BBFE-DA8BC48336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463B90-F74D-4A87-A3B6-F1B1C662770E}"/>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2718304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6BE50-7BB1-4D86-9CE7-DB3F3861BE2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42240E-27BE-4E66-9162-F1822B9020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CC3D4A-5E41-48DF-A70A-28CEF1C5D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0B212A-E4CB-46C2-BBCA-94AC00A9B9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C2CA0B-7DF3-4938-867D-A8A282E8D7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B9B111-620E-4885-A6F4-4D527C643B8D}"/>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8" name="Footer Placeholder 7">
            <a:extLst>
              <a:ext uri="{FF2B5EF4-FFF2-40B4-BE49-F238E27FC236}">
                <a16:creationId xmlns:a16="http://schemas.microsoft.com/office/drawing/2014/main" id="{CF5B9B1B-D2F6-4CB9-96D8-97F284F8EC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C422F1-0180-4F19-ABFC-95B6EF1CA8E5}"/>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564180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2CFA0-F83E-468C-89ED-493DFF2BB7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2273D-2A8C-49D7-82DC-E1BB34E57599}"/>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4" name="Footer Placeholder 3">
            <a:extLst>
              <a:ext uri="{FF2B5EF4-FFF2-40B4-BE49-F238E27FC236}">
                <a16:creationId xmlns:a16="http://schemas.microsoft.com/office/drawing/2014/main" id="{ACBC67DA-60E6-4AF1-839E-9049EB90DF6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9BB5F8-0607-4F8A-A3F0-BE4A4D99D21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203012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D95A5A-4AC3-4482-A475-E728274457E2}"/>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3" name="Footer Placeholder 2">
            <a:extLst>
              <a:ext uri="{FF2B5EF4-FFF2-40B4-BE49-F238E27FC236}">
                <a16:creationId xmlns:a16="http://schemas.microsoft.com/office/drawing/2014/main" id="{A8920F75-7ED7-4DC8-B247-3EE108878C7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0CDBC3-C752-4273-8860-3B9D04854E5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06982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57963-DB56-474A-B29A-7B1D0B8444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0A50C2-990D-452A-A152-10628ABDE6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8FD292-BD0D-42F7-A8E0-354FE1D8A2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3F089B-FF88-4AC0-949F-34C0EB949C6C}"/>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D1571B31-D672-49CF-8897-36CC9A9AC1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E9ADEA-B5A6-4DDE-BCF1-3A3E9DAB2B39}"/>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31744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73CF7-CAB9-4CBA-B7EE-C67F76148F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A6231C-9E54-44B0-ACD6-BC8230B4E4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13ED12-D2DF-4AB1-85B3-F33CD928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7D1DF5-51E5-49D5-BCB7-90F32F3ACD55}"/>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6" name="Footer Placeholder 5">
            <a:extLst>
              <a:ext uri="{FF2B5EF4-FFF2-40B4-BE49-F238E27FC236}">
                <a16:creationId xmlns:a16="http://schemas.microsoft.com/office/drawing/2014/main" id="{FE9FA9A8-3F7A-4CAB-B975-00743AC422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4853F8-8D4C-49AB-A9A3-C7DCF74D6994}"/>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300028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9E504-CF8F-402D-B6DD-DAF81BC698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BAAC92-27A3-4FF7-B824-CF88C7CAE7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601C1-8F58-4BBC-BBAE-8B4C0F953EC0}"/>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3D4A301C-A9E5-47F2-9C1B-F0650CE1ED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7828FC-B0C3-4FBC-852A-28856F4C4ECB}"/>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1093029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31B5DD-905A-4ECD-A37B-079C0130AD8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C55600-41DC-41EF-87C1-2273E40FB0C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8E465E-9529-4325-91D9-00B3B0458C04}"/>
              </a:ext>
            </a:extLst>
          </p:cNvPr>
          <p:cNvSpPr>
            <a:spLocks noGrp="1"/>
          </p:cNvSpPr>
          <p:nvPr>
            <p:ph type="dt" sz="half" idx="10"/>
          </p:nvPr>
        </p:nvSpPr>
        <p:spPr/>
        <p:txBody>
          <a:body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7C3F87D3-A06B-4DF6-BCF1-592F60E6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5F1D3F-3514-4B08-942B-93FAC79FCD66}"/>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21148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A83354E-3385-46EF-BB7B-135BC92DF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D121859-CE96-4444-9F9E-F9B4AC99C0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6A18F-E1F7-4EA7-AD37-195FF031E7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1BB892-304A-4DD9-BC59-5E78851F5B9E}" type="datetimeFigureOut">
              <a:rPr lang="en-US" smtClean="0"/>
              <a:t>2/3/2022</a:t>
            </a:fld>
            <a:endParaRPr lang="en-US"/>
          </a:p>
        </p:txBody>
      </p:sp>
      <p:sp>
        <p:nvSpPr>
          <p:cNvPr id="5" name="Footer Placeholder 4">
            <a:extLst>
              <a:ext uri="{FF2B5EF4-FFF2-40B4-BE49-F238E27FC236}">
                <a16:creationId xmlns:a16="http://schemas.microsoft.com/office/drawing/2014/main" id="{47A05BD3-51AF-4277-BF68-96CAFA98AC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60909EA-87E6-4029-A146-8D664FE338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B20E20-35AA-4ABD-A4F5-FE6FC5FF0F64}" type="slidenum">
              <a:rPr lang="en-US" smtClean="0"/>
              <a:t>‹#›</a:t>
            </a:fld>
            <a:endParaRPr lang="en-US"/>
          </a:p>
        </p:txBody>
      </p:sp>
    </p:spTree>
    <p:extLst>
      <p:ext uri="{BB962C8B-B14F-4D97-AF65-F5344CB8AC3E}">
        <p14:creationId xmlns:p14="http://schemas.microsoft.com/office/powerpoint/2010/main" val="17583176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hyperlink" Target="https://ggplot2.tidyverse.org/reference/theme.html" TargetMode="Externa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hyperlink" Target="https://www.rstudio.com/wp-content/uploads/2015/02/rmarkdown-cheatsheet.pdf"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belinskyc/KnitR-RMD"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fontScale="90000"/>
          </a:bodyPr>
          <a:lstStyle/>
          <a:p>
            <a:pPr algn="ctr"/>
            <a:r>
              <a:rPr lang="en-US" u="sng" dirty="0">
                <a:solidFill>
                  <a:srgbClr val="FFFF00"/>
                </a:solidFill>
                <a:latin typeface="Times New Roman" panose="02020603050405020304" pitchFamily="18" charset="0"/>
                <a:cs typeface="Times New Roman" panose="02020603050405020304" pitchFamily="18" charset="0"/>
              </a:rPr>
              <a:t>Type of objects in R:</a:t>
            </a:r>
            <a:br>
              <a:rPr lang="en-US" u="sng"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Vector</a:t>
            </a:r>
            <a:r>
              <a:rPr lang="en-US" dirty="0">
                <a:solidFill>
                  <a:srgbClr val="FFFF00"/>
                </a:solidFill>
                <a:latin typeface="Times New Roman" panose="02020603050405020304" pitchFamily="18" charset="0"/>
                <a:cs typeface="Times New Roman" panose="02020603050405020304" pitchFamily="18" charset="0"/>
              </a:rPr>
              <a:t>: 1D values of same type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Matrix</a:t>
            </a:r>
            <a:r>
              <a:rPr lang="en-US" dirty="0">
                <a:solidFill>
                  <a:srgbClr val="FFFF00"/>
                </a:solidFill>
                <a:latin typeface="Times New Roman" panose="02020603050405020304" pitchFamily="18" charset="0"/>
                <a:cs typeface="Times New Roman" panose="02020603050405020304" pitchFamily="18" charset="0"/>
              </a:rPr>
              <a:t>: 2D vector</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all rows and columns are the same size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Data Frame</a:t>
            </a:r>
            <a:r>
              <a:rPr lang="en-US" dirty="0">
                <a:solidFill>
                  <a:srgbClr val="FFFF00"/>
                </a:solidFill>
                <a:latin typeface="Times New Roman" panose="02020603050405020304" pitchFamily="18" charset="0"/>
                <a:cs typeface="Times New Roman" panose="02020603050405020304" pitchFamily="18" charset="0"/>
              </a:rPr>
              <a:t>: Matrix, but columns are of different type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Arrays</a:t>
            </a:r>
            <a:r>
              <a:rPr lang="en-US" dirty="0">
                <a:solidFill>
                  <a:srgbClr val="FFFF00"/>
                </a:solidFill>
                <a:latin typeface="Times New Roman" panose="02020603050405020304" pitchFamily="18" charset="0"/>
                <a:cs typeface="Times New Roman" panose="02020603050405020304" pitchFamily="18" charset="0"/>
              </a:rPr>
              <a:t>: Data Frames in 3D+</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b="1" u="sng" dirty="0">
                <a:solidFill>
                  <a:srgbClr val="FFFF00"/>
                </a:solidFill>
                <a:latin typeface="Times New Roman" panose="02020603050405020304" pitchFamily="18" charset="0"/>
                <a:cs typeface="Times New Roman" panose="02020603050405020304" pitchFamily="18" charset="0"/>
              </a:rPr>
              <a:t>Lists</a:t>
            </a:r>
            <a:r>
              <a:rPr lang="en-US" dirty="0">
                <a:solidFill>
                  <a:srgbClr val="FFFF00"/>
                </a:solidFill>
                <a:latin typeface="Times New Roman" panose="02020603050405020304" pitchFamily="18" charset="0"/>
                <a:cs typeface="Times New Roman" panose="02020603050405020304" pitchFamily="18" charset="0"/>
              </a:rPr>
              <a:t>: Arrays, but rows and columns can be of different sizes</a:t>
            </a:r>
          </a:p>
        </p:txBody>
      </p:sp>
    </p:spTree>
    <p:extLst>
      <p:ext uri="{BB962C8B-B14F-4D97-AF65-F5344CB8AC3E}">
        <p14:creationId xmlns:p14="http://schemas.microsoft.com/office/powerpoint/2010/main" val="659467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Lists:</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They are like your junk drawer!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u="sng" dirty="0">
                <a:solidFill>
                  <a:srgbClr val="FFFF00"/>
                </a:solidFill>
                <a:latin typeface="Times New Roman" panose="02020603050405020304" pitchFamily="18" charset="0"/>
                <a:cs typeface="Times New Roman" panose="02020603050405020304" pitchFamily="18" charset="0"/>
              </a:rPr>
              <a:t>Metadata:</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Information about the values, but not actual values – metadata can be applied to any object or object within an object</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Lists, because of their nature, use lots of metadata, which makes it even harder to read them</a:t>
            </a:r>
          </a:p>
        </p:txBody>
      </p:sp>
    </p:spTree>
    <p:extLst>
      <p:ext uri="{BB962C8B-B14F-4D97-AF65-F5344CB8AC3E}">
        <p14:creationId xmlns:p14="http://schemas.microsoft.com/office/powerpoint/2010/main" val="2540127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GGPlot</a:t>
            </a:r>
            <a:r>
              <a:rPr lang="en-US" u="sng" dirty="0">
                <a:solidFill>
                  <a:srgbClr val="FFFF00"/>
                </a:solidFill>
                <a:latin typeface="Times New Roman" panose="02020603050405020304" pitchFamily="18" charset="0"/>
                <a:cs typeface="Times New Roman" panose="02020603050405020304" pitchFamily="18" charset="0"/>
              </a:rPr>
              <a:t> Components (HW 4)</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Many are of type </a:t>
            </a:r>
            <a:r>
              <a:rPr lang="en-US" dirty="0" err="1">
                <a:solidFill>
                  <a:srgbClr val="FFFF00"/>
                </a:solidFill>
                <a:latin typeface="Times New Roman" panose="02020603050405020304" pitchFamily="18" charset="0"/>
                <a:cs typeface="Times New Roman" panose="02020603050405020304" pitchFamily="18" charset="0"/>
              </a:rPr>
              <a:t>element_list</a:t>
            </a:r>
            <a:r>
              <a:rPr lang="en-US" dirty="0">
                <a:solidFill>
                  <a:srgbClr val="FFFF00"/>
                </a:solidFill>
                <a:latin typeface="Times New Roman" panose="02020603050405020304" pitchFamily="18" charset="0"/>
                <a:cs typeface="Times New Roman" panose="02020603050405020304" pitchFamily="18" charset="0"/>
              </a:rPr>
              <a:t>, </a:t>
            </a:r>
            <a:r>
              <a:rPr lang="en-US" dirty="0" err="1">
                <a:solidFill>
                  <a:srgbClr val="FFFF00"/>
                </a:solidFill>
                <a:latin typeface="Times New Roman" panose="02020603050405020304" pitchFamily="18" charset="0"/>
                <a:cs typeface="Times New Roman" panose="02020603050405020304" pitchFamily="18" charset="0"/>
              </a:rPr>
              <a:t>element_rect</a:t>
            </a:r>
            <a:r>
              <a:rPr lang="en-US" dirty="0">
                <a:solidFill>
                  <a:srgbClr val="FFFF00"/>
                </a:solidFill>
                <a:latin typeface="Times New Roman" panose="02020603050405020304" pitchFamily="18" charset="0"/>
                <a:cs typeface="Times New Roman" panose="02020603050405020304" pitchFamily="18" charset="0"/>
              </a:rPr>
              <a:t>, or </a:t>
            </a:r>
            <a:r>
              <a:rPr lang="en-US" dirty="0" err="1">
                <a:solidFill>
                  <a:srgbClr val="FFFF00"/>
                </a:solidFill>
                <a:latin typeface="Times New Roman" panose="02020603050405020304" pitchFamily="18" charset="0"/>
                <a:cs typeface="Times New Roman" panose="02020603050405020304" pitchFamily="18" charset="0"/>
              </a:rPr>
              <a:t>element_text</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hlinkClick r:id="rId2"/>
              </a:rPr>
              <a:t>https://ggplot2.tidyverse.org/reference/theme.html</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Want you to use unique components from this list</a:t>
            </a:r>
          </a:p>
        </p:txBody>
      </p:sp>
    </p:spTree>
    <p:extLst>
      <p:ext uri="{BB962C8B-B14F-4D97-AF65-F5344CB8AC3E}">
        <p14:creationId xmlns:p14="http://schemas.microsoft.com/office/powerpoint/2010/main" val="1996894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Group 1:</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Hand in plot (through Team)</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How important are </a:t>
            </a:r>
            <a:r>
              <a:rPr lang="en-US" dirty="0" err="1">
                <a:solidFill>
                  <a:srgbClr val="FFFF00"/>
                </a:solidFill>
                <a:latin typeface="Times New Roman" panose="02020603050405020304" pitchFamily="18" charset="0"/>
                <a:cs typeface="Times New Roman" panose="02020603050405020304" pitchFamily="18" charset="0"/>
              </a:rPr>
              <a:t>barplots</a:t>
            </a:r>
            <a:r>
              <a:rPr lang="en-US" dirty="0">
                <a:solidFill>
                  <a:srgbClr val="FFFF00"/>
                </a:solidFill>
                <a:latin typeface="Times New Roman" panose="02020603050405020304" pitchFamily="18" charset="0"/>
                <a:cs typeface="Times New Roman" panose="02020603050405020304" pitchFamily="18" charset="0"/>
              </a:rPr>
              <a:t> and boxplots (1 minute report)?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Start with element components</a:t>
            </a:r>
          </a:p>
        </p:txBody>
      </p:sp>
    </p:spTree>
    <p:extLst>
      <p:ext uri="{BB962C8B-B14F-4D97-AF65-F5344CB8AC3E}">
        <p14:creationId xmlns:p14="http://schemas.microsoft.com/office/powerpoint/2010/main" val="3313251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Three ways working directories are determined:</a:t>
            </a:r>
            <a:br>
              <a:rPr lang="en-US" u="sng" dirty="0">
                <a:solidFill>
                  <a:srgbClr val="FFFF00"/>
                </a:solidFill>
                <a:latin typeface="Times New Roman" panose="02020603050405020304" pitchFamily="18" charset="0"/>
                <a:cs typeface="Times New Roman" panose="02020603050405020304" pitchFamily="18" charset="0"/>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1) The R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2) The RStudio Projects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3) The way of the rest of the programming world</a:t>
            </a:r>
          </a:p>
        </p:txBody>
      </p:sp>
    </p:spTree>
    <p:extLst>
      <p:ext uri="{BB962C8B-B14F-4D97-AF65-F5344CB8AC3E}">
        <p14:creationId xmlns:p14="http://schemas.microsoft.com/office/powerpoint/2010/main" val="947962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Working directory is a </a:t>
            </a:r>
            <a:r>
              <a:rPr lang="en-US" dirty="0">
                <a:solidFill>
                  <a:srgbClr val="FF0000"/>
                </a:solidFill>
                <a:latin typeface="Times New Roman" panose="02020603050405020304" pitchFamily="18" charset="0"/>
                <a:cs typeface="Times New Roman" panose="02020603050405020304" pitchFamily="18" charset="0"/>
              </a:rPr>
              <a:t>Session Variable </a:t>
            </a:r>
            <a:r>
              <a:rPr lang="en-US" dirty="0">
                <a:solidFill>
                  <a:srgbClr val="FFFF00"/>
                </a:solidFill>
                <a:latin typeface="Times New Roman" panose="02020603050405020304" pitchFamily="18" charset="0"/>
                <a:cs typeface="Times New Roman" panose="02020603050405020304" pitchFamily="18" charset="0"/>
              </a:rPr>
              <a:t>– meaning all open script files have the same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Changing the Working Directory in one open script change it for all open scripts.</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 initial Working Directory is determined by how R was open (it’s chaotic…)</a:t>
            </a:r>
          </a:p>
        </p:txBody>
      </p:sp>
    </p:spTree>
    <p:extLst>
      <p:ext uri="{BB962C8B-B14F-4D97-AF65-F5344CB8AC3E}">
        <p14:creationId xmlns:p14="http://schemas.microsoft.com/office/powerpoint/2010/main" val="22031671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RStudio Projects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A hack on 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RStudio Projects create a new Session </a:t>
            </a:r>
            <a:r>
              <a:rPr lang="en-US" dirty="0">
                <a:solidFill>
                  <a:srgbClr val="FFFF00"/>
                </a:solidFill>
                <a:latin typeface="Times New Roman" panose="02020603050405020304" pitchFamily="18" charset="0"/>
                <a:cs typeface="Times New Roman" panose="02020603050405020304" pitchFamily="18" charset="0"/>
              </a:rPr>
              <a:t>that sets the Working Directory to the Project Folder (the folder with the *.</a:t>
            </a:r>
            <a:r>
              <a:rPr lang="en-US" dirty="0" err="1">
                <a:solidFill>
                  <a:srgbClr val="FFFF00"/>
                </a:solidFill>
                <a:latin typeface="Times New Roman" panose="02020603050405020304" pitchFamily="18" charset="0"/>
                <a:cs typeface="Times New Roman" panose="02020603050405020304" pitchFamily="18" charset="0"/>
              </a:rPr>
              <a:t>Rproj</a:t>
            </a:r>
            <a:r>
              <a:rPr lang="en-US" dirty="0">
                <a:solidFill>
                  <a:srgbClr val="FFFF00"/>
                </a:solidFill>
                <a:latin typeface="Times New Roman" panose="02020603050405020304" pitchFamily="18" charset="0"/>
                <a:cs typeface="Times New Roman" panose="02020603050405020304" pitchFamily="18" charset="0"/>
              </a:rPr>
              <a:t> file)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have multiple RStudio Projects in multiple Sessions – and they will each have different Working Directories.</a:t>
            </a:r>
          </a:p>
        </p:txBody>
      </p:sp>
    </p:spTree>
    <p:extLst>
      <p:ext uri="{BB962C8B-B14F-4D97-AF65-F5344CB8AC3E}">
        <p14:creationId xmlns:p14="http://schemas.microsoft.com/office/powerpoint/2010/main" val="591099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rest of the world</a:t>
            </a:r>
            <a:br>
              <a:rPr lang="en-US" u="sng" dirty="0">
                <a:solidFill>
                  <a:srgbClr val="FFFF00"/>
                </a:solidFill>
                <a:latin typeface="Times New Roman" panose="02020603050405020304" pitchFamily="18" charset="0"/>
                <a:cs typeface="Times New Roman" panose="02020603050405020304" pitchFamily="18" charset="0"/>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There is no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All calls to other files are relative to the file doing the calling (like Google Map Directions).</a:t>
            </a:r>
          </a:p>
        </p:txBody>
      </p:sp>
    </p:spTree>
    <p:extLst>
      <p:ext uri="{BB962C8B-B14F-4D97-AF65-F5344CB8AC3E}">
        <p14:creationId xmlns:p14="http://schemas.microsoft.com/office/powerpoint/2010/main" val="1617168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a:t>
            </a:r>
            <a:r>
              <a:rPr lang="en-US" u="sng"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a:t>
            </a:r>
            <a:r>
              <a:rPr lang="en-US" u="sng" dirty="0">
                <a:solidFill>
                  <a:srgbClr val="FFFF00"/>
                </a:solidFill>
                <a:latin typeface="Times New Roman" panose="02020603050405020304" pitchFamily="18" charset="0"/>
                <a:cs typeface="Times New Roman" panose="02020603050405020304" pitchFamily="18" charset="0"/>
              </a:rPr>
              <a:t> </a:t>
            </a: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is the technology that “stitches” formatted text with R code and plots.</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RMarkDown</a:t>
            </a:r>
            <a:r>
              <a:rPr lang="en-US" dirty="0">
                <a:solidFill>
                  <a:srgbClr val="FFFF00"/>
                </a:solidFill>
                <a:latin typeface="Times New Roman" panose="02020603050405020304" pitchFamily="18" charset="0"/>
                <a:cs typeface="Times New Roman" panose="02020603050405020304" pitchFamily="18" charset="0"/>
              </a:rPr>
              <a:t> is a language that formats the text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432489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RMD produces HTML (web pages), LaTeX (PDF), and OOXML (DOCX).</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It does none of them well!  Hence, you are limited to very basic formatting</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skip RMD and directly use HTML, LaTeX, or OOXML in </a:t>
            </a: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I’d only recommend HTML.</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7173CBCA-9686-4C7B-B844-16CD478CA249}"/>
              </a:ext>
            </a:extLst>
          </p:cNvPr>
          <p:cNvSpPr txBox="1"/>
          <p:nvPr/>
        </p:nvSpPr>
        <p:spPr>
          <a:xfrm>
            <a:off x="3020786" y="3244334"/>
            <a:ext cx="6198324" cy="369332"/>
          </a:xfrm>
          <a:prstGeom prst="rect">
            <a:avLst/>
          </a:prstGeom>
          <a:noFill/>
        </p:spPr>
        <p:txBody>
          <a:bodyPr wrap="square">
            <a:spAutoFit/>
          </a:bodyPr>
          <a:lstStyle/>
          <a:p>
            <a:r>
              <a:rPr lang="vi-VN" dirty="0"/>
              <a:t>lesson05-ModifyMappedElements-new.R</a:t>
            </a:r>
          </a:p>
        </p:txBody>
      </p:sp>
    </p:spTree>
    <p:extLst>
      <p:ext uri="{BB962C8B-B14F-4D97-AF65-F5344CB8AC3E}">
        <p14:creationId xmlns:p14="http://schemas.microsoft.com/office/powerpoint/2010/main" val="268168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first time:</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File </a:t>
            </a: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 New File  </a:t>
            </a:r>
            <a:r>
              <a:rPr lang="en-US" dirty="0" err="1">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Rmarkdown</a:t>
            </a: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a:t>
            </a:r>
            <a:b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br>
            <a: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 default options are OK</a:t>
            </a:r>
            <a:br>
              <a:rPr lang="en-US"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b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Lots of “starter” code, you can replace with mine</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r>
              <a:rPr lang="en-US" dirty="0">
                <a:solidFill>
                  <a:srgbClr val="C00000"/>
                </a:solidFill>
                <a:latin typeface="Times New Roman" panose="02020603050405020304" pitchFamily="18" charset="0"/>
                <a:cs typeface="Times New Roman" panose="02020603050405020304" pitchFamily="18" charset="0"/>
              </a:rPr>
              <a:t>Knit</a:t>
            </a:r>
            <a:r>
              <a:rPr lang="en-US" dirty="0">
                <a:solidFill>
                  <a:srgbClr val="FFFF00"/>
                </a:solidFill>
                <a:latin typeface="Times New Roman" panose="02020603050405020304" pitchFamily="18" charset="0"/>
                <a:cs typeface="Times New Roman" panose="02020603050405020304" pitchFamily="18" charset="0"/>
              </a:rPr>
              <a:t> to execute the code </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Installs a lot of packages the first time you </a:t>
            </a:r>
            <a:r>
              <a:rPr lang="en-US" dirty="0">
                <a:solidFill>
                  <a:srgbClr val="C00000"/>
                </a:solidFill>
                <a:latin typeface="Times New Roman" panose="02020603050405020304" pitchFamily="18" charset="0"/>
                <a:cs typeface="Times New Roman" panose="02020603050405020304" pitchFamily="18" charset="0"/>
              </a:rPr>
              <a:t>Knit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Needs </a:t>
            </a:r>
            <a:r>
              <a:rPr lang="en-US" dirty="0" err="1">
                <a:solidFill>
                  <a:srgbClr val="FFFF00"/>
                </a:solidFill>
                <a:latin typeface="Times New Roman" panose="02020603050405020304" pitchFamily="18" charset="0"/>
                <a:cs typeface="Times New Roman" panose="02020603050405020304" pitchFamily="18" charset="0"/>
              </a:rPr>
              <a:t>MikTex</a:t>
            </a:r>
            <a:r>
              <a:rPr lang="en-US" dirty="0">
                <a:solidFill>
                  <a:srgbClr val="FFFF00"/>
                </a:solidFill>
                <a:latin typeface="Times New Roman" panose="02020603050405020304" pitchFamily="18" charset="0"/>
                <a:cs typeface="Times New Roman" panose="02020603050405020304" pitchFamily="18" charset="0"/>
              </a:rPr>
              <a:t>/</a:t>
            </a:r>
            <a:r>
              <a:rPr lang="en-US" dirty="0" err="1">
                <a:solidFill>
                  <a:srgbClr val="FFFF00"/>
                </a:solidFill>
                <a:latin typeface="Times New Roman" panose="02020603050405020304" pitchFamily="18" charset="0"/>
                <a:cs typeface="Times New Roman" panose="02020603050405020304" pitchFamily="18" charset="0"/>
              </a:rPr>
              <a:t>MacTex</a:t>
            </a:r>
            <a:r>
              <a:rPr lang="en-US" dirty="0">
                <a:solidFill>
                  <a:srgbClr val="FFFF00"/>
                </a:solidFill>
                <a:latin typeface="Times New Roman" panose="02020603050405020304" pitchFamily="18" charset="0"/>
                <a:cs typeface="Times New Roman" panose="02020603050405020304" pitchFamily="18" charset="0"/>
              </a:rPr>
              <a:t> to create PDFs</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Will be very slow creating the first PDF because it is downloading a bunch of updates</a:t>
            </a:r>
          </a:p>
        </p:txBody>
      </p:sp>
    </p:spTree>
    <p:extLst>
      <p:ext uri="{BB962C8B-B14F-4D97-AF65-F5344CB8AC3E}">
        <p14:creationId xmlns:p14="http://schemas.microsoft.com/office/powerpoint/2010/main" val="259290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Group 2:</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1) </a:t>
            </a:r>
            <a:r>
              <a:rPr lang="en-US" sz="4000" dirty="0">
                <a:solidFill>
                  <a:srgbClr val="FFFF00"/>
                </a:solidFill>
                <a:latin typeface="Times New Roman" panose="02020603050405020304" pitchFamily="18" charset="0"/>
                <a:cs typeface="Times New Roman" panose="02020603050405020304" pitchFamily="18" charset="0"/>
              </a:rPr>
              <a:t>Create an </a:t>
            </a:r>
            <a:r>
              <a:rPr lang="en-US" sz="4000" dirty="0" err="1">
                <a:solidFill>
                  <a:srgbClr val="FFFF00"/>
                </a:solidFill>
                <a:latin typeface="Times New Roman" panose="02020603050405020304" pitchFamily="18" charset="0"/>
                <a:cs typeface="Times New Roman" panose="02020603050405020304" pitchFamily="18" charset="0"/>
              </a:rPr>
              <a:t>Rmarkdown</a:t>
            </a:r>
            <a:r>
              <a:rPr lang="en-US" sz="4000" dirty="0">
                <a:solidFill>
                  <a:srgbClr val="FFFF00"/>
                </a:solidFill>
                <a:latin typeface="Times New Roman" panose="02020603050405020304" pitchFamily="18" charset="0"/>
                <a:cs typeface="Times New Roman" panose="02020603050405020304" pitchFamily="18" charset="0"/>
              </a:rPr>
              <a:t> document in your RStudio Project name </a:t>
            </a:r>
            <a:r>
              <a:rPr lang="en-US" sz="4000" dirty="0">
                <a:solidFill>
                  <a:srgbClr val="C00000"/>
                </a:solidFill>
                <a:latin typeface="Times New Roman" panose="02020603050405020304" pitchFamily="18" charset="0"/>
                <a:cs typeface="Times New Roman" panose="02020603050405020304" pitchFamily="18" charset="0"/>
              </a:rPr>
              <a:t>class4.rmd</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2) Include your last homework in the </a:t>
            </a:r>
            <a:r>
              <a:rPr lang="en-US" sz="4000" dirty="0">
                <a:solidFill>
                  <a:srgbClr val="C00000"/>
                </a:solidFill>
                <a:latin typeface="Times New Roman" panose="02020603050405020304" pitchFamily="18" charset="0"/>
                <a:cs typeface="Times New Roman" panose="02020603050405020304" pitchFamily="18" charset="0"/>
              </a:rPr>
              <a:t>class4.rmd </a:t>
            </a:r>
            <a:r>
              <a:rPr lang="en-US" sz="4000" dirty="0">
                <a:solidFill>
                  <a:srgbClr val="FFFF00"/>
                </a:solidFill>
                <a:latin typeface="Times New Roman" panose="02020603050405020304" pitchFamily="18" charset="0"/>
                <a:cs typeface="Times New Roman" panose="02020603050405020304" pitchFamily="18" charset="0"/>
              </a:rPr>
              <a:t>document</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3) Include inline math operations using variables from your homework (i.e., </a:t>
            </a:r>
            <a:r>
              <a:rPr lang="en-US" sz="4000" dirty="0" err="1">
                <a:solidFill>
                  <a:srgbClr val="FFFF00"/>
                </a:solidFill>
                <a:latin typeface="Times New Roman" panose="02020603050405020304" pitchFamily="18" charset="0"/>
                <a:cs typeface="Times New Roman" panose="02020603050405020304" pitchFamily="18" charset="0"/>
              </a:rPr>
              <a:t>weatherData</a:t>
            </a:r>
            <a:r>
              <a:rPr lang="en-US" sz="4000" dirty="0">
                <a:solidFill>
                  <a:srgbClr val="FFFF00"/>
                </a:solidFill>
                <a:latin typeface="Times New Roman" panose="02020603050405020304" pitchFamily="18" charset="0"/>
                <a:cs typeface="Times New Roman" panose="02020603050405020304" pitchFamily="18" charset="0"/>
              </a:rPr>
              <a:t>)</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4) Include plots</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5) Include headers, bold, a hyperlink</a:t>
            </a:r>
            <a:br>
              <a:rPr lang="en-US" sz="4000" dirty="0">
                <a:solidFill>
                  <a:srgbClr val="FFFF00"/>
                </a:solidFill>
                <a:latin typeface="Times New Roman" panose="02020603050405020304" pitchFamily="18" charset="0"/>
                <a:cs typeface="Times New Roman" panose="02020603050405020304" pitchFamily="18" charset="0"/>
              </a:rPr>
            </a:br>
            <a:r>
              <a:rPr lang="en-US" sz="4000" dirty="0">
                <a:solidFill>
                  <a:srgbClr val="FFFF00"/>
                </a:solidFill>
                <a:latin typeface="Times New Roman" panose="02020603050405020304" pitchFamily="18" charset="0"/>
                <a:cs typeface="Times New Roman" panose="02020603050405020304" pitchFamily="18" charset="0"/>
              </a:rPr>
              <a:t>6) Include one </a:t>
            </a:r>
            <a:r>
              <a:rPr lang="en-US" sz="4000" b="1" i="1" dirty="0">
                <a:solidFill>
                  <a:srgbClr val="FFFF00"/>
                </a:solidFill>
                <a:latin typeface="Times New Roman" panose="02020603050405020304" pitchFamily="18" charset="0"/>
                <a:cs typeface="Times New Roman" panose="02020603050405020304" pitchFamily="18" charset="0"/>
              </a:rPr>
              <a:t>new</a:t>
            </a:r>
            <a:r>
              <a:rPr lang="en-US" sz="4000" dirty="0">
                <a:solidFill>
                  <a:srgbClr val="FFFF00"/>
                </a:solidFill>
                <a:latin typeface="Times New Roman" panose="02020603050405020304" pitchFamily="18" charset="0"/>
                <a:cs typeface="Times New Roman" panose="02020603050405020304" pitchFamily="18" charset="0"/>
              </a:rPr>
              <a:t> formatting technique from section 3 of the </a:t>
            </a:r>
            <a:r>
              <a:rPr lang="en-US" sz="4000" dirty="0" err="1">
                <a:solidFill>
                  <a:srgbClr val="FFFF00"/>
                </a:solidFill>
                <a:latin typeface="Times New Roman" panose="02020603050405020304" pitchFamily="18" charset="0"/>
                <a:cs typeface="Times New Roman" panose="02020603050405020304" pitchFamily="18" charset="0"/>
                <a:hlinkClick r:id="rId2"/>
              </a:rPr>
              <a:t>Rmarkdown</a:t>
            </a:r>
            <a:r>
              <a:rPr lang="en-US" sz="4000" dirty="0">
                <a:solidFill>
                  <a:srgbClr val="FFFF00"/>
                </a:solidFill>
                <a:latin typeface="Times New Roman" panose="02020603050405020304" pitchFamily="18" charset="0"/>
                <a:cs typeface="Times New Roman" panose="02020603050405020304" pitchFamily="18" charset="0"/>
                <a:hlinkClick r:id="rId2"/>
              </a:rPr>
              <a:t> </a:t>
            </a:r>
            <a:r>
              <a:rPr lang="en-US" sz="4000" dirty="0" err="1">
                <a:solidFill>
                  <a:srgbClr val="FFFF00"/>
                </a:solidFill>
                <a:latin typeface="Times New Roman" panose="02020603050405020304" pitchFamily="18" charset="0"/>
                <a:cs typeface="Times New Roman" panose="02020603050405020304" pitchFamily="18" charset="0"/>
                <a:hlinkClick r:id="rId2"/>
              </a:rPr>
              <a:t>cheatsheet</a:t>
            </a:r>
            <a:endParaRPr lang="en-US" dirty="0">
              <a:solidFill>
                <a:srgbClr val="FFFF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8015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Downloading a repository: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hlinkClick r:id="rId2"/>
              </a:rPr>
              <a:t>https://github.com/belinskyc/KnitR-RMD</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click: </a:t>
            </a:r>
            <a:r>
              <a:rPr lang="en-US" b="1" i="1" dirty="0">
                <a:solidFill>
                  <a:srgbClr val="FFFF00"/>
                </a:solidFill>
                <a:latin typeface="Times New Roman" panose="02020603050405020304" pitchFamily="18" charset="0"/>
                <a:cs typeface="Times New Roman" panose="02020603050405020304" pitchFamily="18" charset="0"/>
              </a:rPr>
              <a:t>Code</a:t>
            </a:r>
            <a:r>
              <a:rPr lang="en-US" dirty="0">
                <a:solidFill>
                  <a:srgbClr val="FFFF00"/>
                </a:solidFill>
                <a:latin typeface="Times New Roman" panose="02020603050405020304" pitchFamily="18" charset="0"/>
                <a:cs typeface="Times New Roman" panose="02020603050405020304" pitchFamily="18" charset="0"/>
              </a:rPr>
              <a:t> (green button) </a:t>
            </a:r>
            <a:r>
              <a:rPr lang="en-US"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 </a:t>
            </a:r>
            <a:r>
              <a:rPr lang="en-US" b="1" i="1" dirty="0">
                <a:solidFill>
                  <a:srgbClr val="FFFF00"/>
                </a:solidFill>
                <a:latin typeface="Times New Roman" panose="02020603050405020304" pitchFamily="18" charset="0"/>
                <a:cs typeface="Times New Roman" panose="02020603050405020304" pitchFamily="18" charset="0"/>
                <a:sym typeface="Wingdings" panose="05000000000000000000" pitchFamily="2" charset="2"/>
              </a:rPr>
              <a:t>Download Zip</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will need to unzip the RStudio Project on your computer</a:t>
            </a:r>
          </a:p>
        </p:txBody>
      </p:sp>
    </p:spTree>
    <p:extLst>
      <p:ext uri="{BB962C8B-B14F-4D97-AF65-F5344CB8AC3E}">
        <p14:creationId xmlns:p14="http://schemas.microsoft.com/office/powerpoint/2010/main" val="37411224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Git/GitHub:</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Git: can work without GitHub</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Commit</a:t>
            </a:r>
            <a:r>
              <a:rPr lang="en-US" dirty="0">
                <a:solidFill>
                  <a:srgbClr val="FFFF00"/>
                </a:solidFill>
                <a:latin typeface="Times New Roman" panose="02020603050405020304" pitchFamily="18" charset="0"/>
                <a:cs typeface="Times New Roman" panose="02020603050405020304" pitchFamily="18" charset="0"/>
              </a:rPr>
              <a:t>: Git-only, creates new version of your project on your computer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Push</a:t>
            </a:r>
            <a:r>
              <a:rPr lang="en-US" dirty="0">
                <a:solidFill>
                  <a:srgbClr val="FFFF00"/>
                </a:solidFill>
                <a:latin typeface="Times New Roman" panose="02020603050405020304" pitchFamily="18" charset="0"/>
                <a:cs typeface="Times New Roman" panose="02020603050405020304" pitchFamily="18" charset="0"/>
              </a:rPr>
              <a:t>: Git/GitHub, sends new versions to GitHub</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C00000"/>
                </a:solidFill>
                <a:latin typeface="Times New Roman" panose="02020603050405020304" pitchFamily="18" charset="0"/>
                <a:cs typeface="Times New Roman" panose="02020603050405020304" pitchFamily="18" charset="0"/>
              </a:rPr>
              <a:t>Pull</a:t>
            </a:r>
            <a:r>
              <a:rPr lang="en-US" dirty="0">
                <a:solidFill>
                  <a:srgbClr val="FFFF00"/>
                </a:solidFill>
                <a:latin typeface="Times New Roman" panose="02020603050405020304" pitchFamily="18" charset="0"/>
                <a:cs typeface="Times New Roman" panose="02020603050405020304" pitchFamily="18" charset="0"/>
              </a:rPr>
              <a:t>: Git/GitHub, receives new versions from GitHub</a:t>
            </a:r>
          </a:p>
        </p:txBody>
      </p:sp>
    </p:spTree>
    <p:extLst>
      <p:ext uri="{BB962C8B-B14F-4D97-AF65-F5344CB8AC3E}">
        <p14:creationId xmlns:p14="http://schemas.microsoft.com/office/powerpoint/2010/main" val="4284820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Diagram&#10;&#10;Description automatically generated">
            <a:extLst>
              <a:ext uri="{FF2B5EF4-FFF2-40B4-BE49-F238E27FC236}">
                <a16:creationId xmlns:a16="http://schemas.microsoft.com/office/drawing/2014/main" id="{89F8B143-022E-43B7-8D56-8B0E3BF83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2145" y="0"/>
            <a:ext cx="7647710" cy="6653509"/>
          </a:xfrm>
          <a:prstGeom prst="rect">
            <a:avLst/>
          </a:prstGeom>
        </p:spPr>
      </p:pic>
    </p:spTree>
    <p:extLst>
      <p:ext uri="{BB962C8B-B14F-4D97-AF65-F5344CB8AC3E}">
        <p14:creationId xmlns:p14="http://schemas.microsoft.com/office/powerpoint/2010/main" val="33877973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34e6b996-c1f6-4024-b553-22dbb926185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B29A48B83221254486C96EE70ACBA9A6" ma:contentTypeVersion="10" ma:contentTypeDescription="Create a new document." ma:contentTypeScope="" ma:versionID="d844dac8e12526486ae412b8ae44e3c2">
  <xsd:schema xmlns:xsd="http://www.w3.org/2001/XMLSchema" xmlns:xs="http://www.w3.org/2001/XMLSchema" xmlns:p="http://schemas.microsoft.com/office/2006/metadata/properties" xmlns:ns2="34e6b996-c1f6-4024-b553-22dbb926185e" xmlns:ns3="393f1106-018a-42d8-ab30-9984f9d2929a" targetNamespace="http://schemas.microsoft.com/office/2006/metadata/properties" ma:root="true" ma:fieldsID="a1f36514c3211555ce26ca8b787f5a6e" ns2:_="" ns3:_="">
    <xsd:import namespace="34e6b996-c1f6-4024-b553-22dbb926185e"/>
    <xsd:import namespace="393f1106-018a-42d8-ab30-9984f9d2929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e6b996-c1f6-4024-b553-22dbb926185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93f1106-018a-42d8-ab30-9984f9d2929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05D15B3-B590-43F3-AC20-441330526397}">
  <ds:schemaRefs>
    <ds:schemaRef ds:uri="http://purl.org/dc/elements/1.1/"/>
    <ds:schemaRef ds:uri="http://schemas.microsoft.com/sharepoint/v3"/>
    <ds:schemaRef ds:uri="http://schemas.microsoft.com/office/infopath/2007/PartnerControls"/>
    <ds:schemaRef ds:uri="http://schemas.microsoft.com/office/2006/documentManagement/types"/>
    <ds:schemaRef ds:uri="b248de5a-1419-4918-96b9-b3242b854abc"/>
    <ds:schemaRef ds:uri="http://www.w3.org/XML/1998/namespace"/>
    <ds:schemaRef ds:uri="http://schemas.openxmlformats.org/package/2006/metadata/core-properties"/>
    <ds:schemaRef ds:uri="http://purl.org/dc/terms/"/>
    <ds:schemaRef ds:uri="5662f12b-3453-4479-8b12-66d6bdcc6b72"/>
    <ds:schemaRef ds:uri="http://schemas.microsoft.com/office/2006/metadata/properties"/>
    <ds:schemaRef ds:uri="http://purl.org/dc/dcmitype/"/>
    <ds:schemaRef ds:uri="34e6b996-c1f6-4024-b553-22dbb926185e"/>
  </ds:schemaRefs>
</ds:datastoreItem>
</file>

<file path=customXml/itemProps2.xml><?xml version="1.0" encoding="utf-8"?>
<ds:datastoreItem xmlns:ds="http://schemas.openxmlformats.org/officeDocument/2006/customXml" ds:itemID="{F99427BD-8D21-42D5-901D-9F4A840F44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e6b996-c1f6-4024-b553-22dbb926185e"/>
    <ds:schemaRef ds:uri="393f1106-018a-42d8-ab30-9984f9d2929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C3E49DB-369F-46E8-8388-BDF37736F13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465</TotalTime>
  <Words>743</Words>
  <Application>Microsoft Office PowerPoint</Application>
  <PresentationFormat>Widescreen</PresentationFormat>
  <Paragraphs>15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Times New Roman</vt:lpstr>
      <vt:lpstr>Office Theme</vt:lpstr>
      <vt:lpstr>Type of objects in R: Vector: 1D values of same type  Matrix: 2D vector  all rows and columns are the same size  Data Frame: Matrix, but columns are of different type  Arrays: Data Frames in 3D+  Lists: Arrays, but rows and columns can be of different sizes</vt:lpstr>
      <vt:lpstr>Lists: They are like your junk drawer!  Metadata: Information about the values, but not actual values – metadata can be applied to any object or object within an object  Lists, because of their nature, use lots of metadata, which makes it even harder to read them</vt:lpstr>
      <vt:lpstr>GGPlot Components (HW 4) Many are of type element_list, element_rect, or element_text  https://ggplot2.tidyverse.org/reference/theme.html  Want you to use unique components from this list</vt:lpstr>
      <vt:lpstr>Group 1: - Hand in plot (through Team) - How important are barplots and boxplots (1 minute report)? - Start with element components</vt:lpstr>
      <vt:lpstr>Three ways working directories are determined:  1) The R way 2) The RStudio Projects way 3) The way of the rest of the programming world</vt:lpstr>
      <vt:lpstr>Working Directories: The R way Working directory is a Session Variable – meaning all open script files have the same Working Directory.  Changing the Working Directory in one open script change it for all open scripts.  The initial Working Directory is determined by how R was open (it’s chaotic…)</vt:lpstr>
      <vt:lpstr>Working Directories: The RStudio Projects way A hack on R…  RStudio Projects create a new Session that sets the Working Directory to the Project Folder (the folder with the *.Rproj file)  You can have multiple RStudio Projects in multiple Sessions – and they will each have different Working Directories.</vt:lpstr>
      <vt:lpstr>Working Directories: The rest of the world  There is no Working Directory.  All calls to other files are relative to the file doing the calling (like Google Map Directions).</vt:lpstr>
      <vt:lpstr>KnitR  RMarkDown: KnitR is the technology that “stitches” formatted text with R code and plots.  RMarkDown is a language that formats the text  </vt:lpstr>
      <vt:lpstr>RMarkDown: RMD produces HTML (web pages), LaTeX (PDF), and OOXML (DOCX).  It does none of them well!  Hence, you are limited to very basic formatting  You can skip RMD and directly use HTML, LaTeX, or OOXML in KnitR.  I’d only recommend HTML.  </vt:lpstr>
      <vt:lpstr>KnitR first time: File  New File  Rmarkdown… - default options are OK  - Lots of “starter” code, you can replace with mine - Knit to execute the code  - Installs a lot of packages the first time you Knit - Needs MikTex/MacTex to create PDFs - Will be very slow creating the first PDF because it is downloading a bunch of updates</vt:lpstr>
      <vt:lpstr>Group 2: 1) Create an Rmarkdown document in your RStudio Project name class4.rmd 2) Include your last homework in the class4.rmd document 3) Include inline math operations using variables from your homework (i.e., weatherData) 4) Include plots 5) Include headers, bold, a hyperlink 6) Include one new formatting technique from section 3 of the Rmarkdown cheatsheet</vt:lpstr>
      <vt:lpstr>Downloading a repository: https://github.com/belinskyc/KnitR-RMD  click: Code (green button)  Download Zip  You will need to unzip the RStudio Project on your computer</vt:lpstr>
      <vt:lpstr>Git/GitHub: Git: can work without GitHub  Commit: Git-only, creates new version of your project on your computer  Push: Git/GitHub, sends new versions to GitHub  Pull: Git/GitHub, receives new versions from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 topics: RStudio/ RStudio Projects Git/GitHub GGPlot RMarkdown (KnitR) Rshiny RMapping </dc:title>
  <dc:creator>Charles Belinsky</dc:creator>
  <cp:lastModifiedBy>Belinsky, Charles</cp:lastModifiedBy>
  <cp:revision>4</cp:revision>
  <dcterms:created xsi:type="dcterms:W3CDTF">2021-12-14T13:35:18Z</dcterms:created>
  <dcterms:modified xsi:type="dcterms:W3CDTF">2022-02-03T13:10:50Z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0x010100B29A48B83221254486C96EE70ACBA9A6</vt:lpwstr>
  </property>
  <property fmtid="{D5CDD505-2E9C-101B-9397-08002B2CF9AE}" pid="3" name="_SourceUrl">
    <vt:lpwstr/>
  </property>
  <property fmtid="{D5CDD505-2E9C-101B-9397-08002B2CF9AE}" pid="4" name="_SharedFileIndex">
    <vt:lpwstr/>
  </property>
  <property fmtid="{D5CDD505-2E9C-101B-9397-08002B2CF9AE}" pid="5" name="ComplianceAssetId">
    <vt:lpwstr/>
  </property>
  <property fmtid="{D5CDD505-2E9C-101B-9397-08002B2CF9AE}" pid="6" name="_ExtendedDescription">
    <vt:lpwstr/>
  </property>
  <property fmtid="{D5CDD505-2E9C-101B-9397-08002B2CF9AE}" pid="7" name="TriggerFlowInfo">
    <vt:lpwstr/>
  </property>
</Properties>
</file>